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9" r:id="rId5"/>
    <p:sldId id="263" r:id="rId6"/>
    <p:sldId id="262" r:id="rId7"/>
    <p:sldId id="258" r:id="rId8"/>
    <p:sldId id="261" r:id="rId9"/>
    <p:sldId id="264"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974D2-9A2E-7447-4F7D-71BB23C6D4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F057CED-1D83-CAB0-3859-A11C40BFC0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76C1B2E-10DD-DB3F-BDF8-DA2E24D6183E}"/>
              </a:ext>
            </a:extLst>
          </p:cNvPr>
          <p:cNvSpPr>
            <a:spLocks noGrp="1"/>
          </p:cNvSpPr>
          <p:nvPr>
            <p:ph type="dt" sz="half" idx="10"/>
          </p:nvPr>
        </p:nvSpPr>
        <p:spPr/>
        <p:txBody>
          <a:bodyPr/>
          <a:lstStyle/>
          <a:p>
            <a:fld id="{45A1E501-E094-4A72-8C88-1A914F8C2808}" type="datetimeFigureOut">
              <a:rPr lang="en-IN" smtClean="0"/>
              <a:t>19-10-2026</a:t>
            </a:fld>
            <a:endParaRPr lang="en-IN"/>
          </a:p>
        </p:txBody>
      </p:sp>
      <p:sp>
        <p:nvSpPr>
          <p:cNvPr id="5" name="Footer Placeholder 4">
            <a:extLst>
              <a:ext uri="{FF2B5EF4-FFF2-40B4-BE49-F238E27FC236}">
                <a16:creationId xmlns:a16="http://schemas.microsoft.com/office/drawing/2014/main" id="{596001A4-95E1-6423-C143-792E5AF102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DD676B-3F95-55D6-AEEF-69432D80B4BF}"/>
              </a:ext>
            </a:extLst>
          </p:cNvPr>
          <p:cNvSpPr>
            <a:spLocks noGrp="1"/>
          </p:cNvSpPr>
          <p:nvPr>
            <p:ph type="sldNum" sz="quarter" idx="12"/>
          </p:nvPr>
        </p:nvSpPr>
        <p:spPr/>
        <p:txBody>
          <a:bodyPr/>
          <a:lstStyle/>
          <a:p>
            <a:fld id="{BFE336E3-2FA9-484A-9236-B926FE1614D3}" type="slidenum">
              <a:rPr lang="en-IN" smtClean="0"/>
              <a:t>‹#›</a:t>
            </a:fld>
            <a:endParaRPr lang="en-IN"/>
          </a:p>
        </p:txBody>
      </p:sp>
    </p:spTree>
    <p:extLst>
      <p:ext uri="{BB962C8B-B14F-4D97-AF65-F5344CB8AC3E}">
        <p14:creationId xmlns:p14="http://schemas.microsoft.com/office/powerpoint/2010/main" val="1860934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B5D97-347A-9B3A-B10A-5FCFF4C2637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59D01A3-AEA8-BF07-5808-8405C7A5DC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7E6CD4-5958-85AB-6C8E-757FB3C00721}"/>
              </a:ext>
            </a:extLst>
          </p:cNvPr>
          <p:cNvSpPr>
            <a:spLocks noGrp="1"/>
          </p:cNvSpPr>
          <p:nvPr>
            <p:ph type="dt" sz="half" idx="10"/>
          </p:nvPr>
        </p:nvSpPr>
        <p:spPr/>
        <p:txBody>
          <a:bodyPr/>
          <a:lstStyle/>
          <a:p>
            <a:fld id="{45A1E501-E094-4A72-8C88-1A914F8C2808}" type="datetimeFigureOut">
              <a:rPr lang="en-IN" smtClean="0"/>
              <a:t>19-10-2026</a:t>
            </a:fld>
            <a:endParaRPr lang="en-IN"/>
          </a:p>
        </p:txBody>
      </p:sp>
      <p:sp>
        <p:nvSpPr>
          <p:cNvPr id="5" name="Footer Placeholder 4">
            <a:extLst>
              <a:ext uri="{FF2B5EF4-FFF2-40B4-BE49-F238E27FC236}">
                <a16:creationId xmlns:a16="http://schemas.microsoft.com/office/drawing/2014/main" id="{34C2E7B1-7A8C-D9EC-C574-44136FAD61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EF375F-A05F-EF6A-8962-4521E4A91D9A}"/>
              </a:ext>
            </a:extLst>
          </p:cNvPr>
          <p:cNvSpPr>
            <a:spLocks noGrp="1"/>
          </p:cNvSpPr>
          <p:nvPr>
            <p:ph type="sldNum" sz="quarter" idx="12"/>
          </p:nvPr>
        </p:nvSpPr>
        <p:spPr/>
        <p:txBody>
          <a:bodyPr/>
          <a:lstStyle/>
          <a:p>
            <a:fld id="{BFE336E3-2FA9-484A-9236-B926FE1614D3}" type="slidenum">
              <a:rPr lang="en-IN" smtClean="0"/>
              <a:t>‹#›</a:t>
            </a:fld>
            <a:endParaRPr lang="en-IN"/>
          </a:p>
        </p:txBody>
      </p:sp>
    </p:spTree>
    <p:extLst>
      <p:ext uri="{BB962C8B-B14F-4D97-AF65-F5344CB8AC3E}">
        <p14:creationId xmlns:p14="http://schemas.microsoft.com/office/powerpoint/2010/main" val="1306513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AE215-8AA0-040D-E853-B5312CF6F3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68067F4-71D8-F274-F92A-51656067EF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90951E-D74A-DE53-07ED-A1C4DECFF7BC}"/>
              </a:ext>
            </a:extLst>
          </p:cNvPr>
          <p:cNvSpPr>
            <a:spLocks noGrp="1"/>
          </p:cNvSpPr>
          <p:nvPr>
            <p:ph type="dt" sz="half" idx="10"/>
          </p:nvPr>
        </p:nvSpPr>
        <p:spPr/>
        <p:txBody>
          <a:bodyPr/>
          <a:lstStyle/>
          <a:p>
            <a:fld id="{45A1E501-E094-4A72-8C88-1A914F8C2808}" type="datetimeFigureOut">
              <a:rPr lang="en-IN" smtClean="0"/>
              <a:t>19-10-2026</a:t>
            </a:fld>
            <a:endParaRPr lang="en-IN"/>
          </a:p>
        </p:txBody>
      </p:sp>
      <p:sp>
        <p:nvSpPr>
          <p:cNvPr id="5" name="Footer Placeholder 4">
            <a:extLst>
              <a:ext uri="{FF2B5EF4-FFF2-40B4-BE49-F238E27FC236}">
                <a16:creationId xmlns:a16="http://schemas.microsoft.com/office/drawing/2014/main" id="{0FDCB214-C44F-0678-562D-AFDC93E734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9187CA-47D1-4F1F-6FDA-D32007E4F0A8}"/>
              </a:ext>
            </a:extLst>
          </p:cNvPr>
          <p:cNvSpPr>
            <a:spLocks noGrp="1"/>
          </p:cNvSpPr>
          <p:nvPr>
            <p:ph type="sldNum" sz="quarter" idx="12"/>
          </p:nvPr>
        </p:nvSpPr>
        <p:spPr/>
        <p:txBody>
          <a:bodyPr/>
          <a:lstStyle/>
          <a:p>
            <a:fld id="{BFE336E3-2FA9-484A-9236-B926FE1614D3}" type="slidenum">
              <a:rPr lang="en-IN" smtClean="0"/>
              <a:t>‹#›</a:t>
            </a:fld>
            <a:endParaRPr lang="en-IN"/>
          </a:p>
        </p:txBody>
      </p:sp>
    </p:spTree>
    <p:extLst>
      <p:ext uri="{BB962C8B-B14F-4D97-AF65-F5344CB8AC3E}">
        <p14:creationId xmlns:p14="http://schemas.microsoft.com/office/powerpoint/2010/main" val="24794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E56D4-F63C-7B6B-7131-11B5521749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3C5BD75-30F5-D391-B551-9C9BA78178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C39F1CD-758D-7730-E892-B105C53733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79D31F3-B7E0-0D18-21F4-771B6026AF67}"/>
              </a:ext>
            </a:extLst>
          </p:cNvPr>
          <p:cNvSpPr>
            <a:spLocks noGrp="1"/>
          </p:cNvSpPr>
          <p:nvPr>
            <p:ph type="dt" sz="half" idx="10"/>
          </p:nvPr>
        </p:nvSpPr>
        <p:spPr/>
        <p:txBody>
          <a:bodyPr/>
          <a:lstStyle/>
          <a:p>
            <a:fld id="{45A1E501-E094-4A72-8C88-1A914F8C2808}" type="datetimeFigureOut">
              <a:rPr lang="en-IN" smtClean="0"/>
              <a:t>19-10-2026</a:t>
            </a:fld>
            <a:endParaRPr lang="en-IN"/>
          </a:p>
        </p:txBody>
      </p:sp>
      <p:sp>
        <p:nvSpPr>
          <p:cNvPr id="6" name="Footer Placeholder 5">
            <a:extLst>
              <a:ext uri="{FF2B5EF4-FFF2-40B4-BE49-F238E27FC236}">
                <a16:creationId xmlns:a16="http://schemas.microsoft.com/office/drawing/2014/main" id="{EA6D4249-C7D3-53D5-75BE-AE944ED963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721ADA-153E-B78E-3954-550D3FCE0807}"/>
              </a:ext>
            </a:extLst>
          </p:cNvPr>
          <p:cNvSpPr>
            <a:spLocks noGrp="1"/>
          </p:cNvSpPr>
          <p:nvPr>
            <p:ph type="sldNum" sz="quarter" idx="12"/>
          </p:nvPr>
        </p:nvSpPr>
        <p:spPr/>
        <p:txBody>
          <a:bodyPr/>
          <a:lstStyle/>
          <a:p>
            <a:fld id="{BFE336E3-2FA9-484A-9236-B926FE1614D3}" type="slidenum">
              <a:rPr lang="en-IN" smtClean="0"/>
              <a:t>‹#›</a:t>
            </a:fld>
            <a:endParaRPr lang="en-IN"/>
          </a:p>
        </p:txBody>
      </p:sp>
    </p:spTree>
    <p:extLst>
      <p:ext uri="{BB962C8B-B14F-4D97-AF65-F5344CB8AC3E}">
        <p14:creationId xmlns:p14="http://schemas.microsoft.com/office/powerpoint/2010/main" val="2149864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7052-B4B9-D218-7800-2F912BEEB97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B2ED3B9-FAE1-DC8D-81C6-2BD7558928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E8E709-6064-4A0D-2321-72CA2CE39F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EF80506-1318-331D-9AAC-55AF30547B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6507B3-89A1-0F3B-33A1-63528054F9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9A85119-908F-F0EC-FE5A-3C69CA412D3B}"/>
              </a:ext>
            </a:extLst>
          </p:cNvPr>
          <p:cNvSpPr>
            <a:spLocks noGrp="1"/>
          </p:cNvSpPr>
          <p:nvPr>
            <p:ph type="dt" sz="half" idx="10"/>
          </p:nvPr>
        </p:nvSpPr>
        <p:spPr/>
        <p:txBody>
          <a:bodyPr/>
          <a:lstStyle/>
          <a:p>
            <a:fld id="{45A1E501-E094-4A72-8C88-1A914F8C2808}" type="datetimeFigureOut">
              <a:rPr lang="en-IN" smtClean="0"/>
              <a:t>19-10-2026</a:t>
            </a:fld>
            <a:endParaRPr lang="en-IN"/>
          </a:p>
        </p:txBody>
      </p:sp>
      <p:sp>
        <p:nvSpPr>
          <p:cNvPr id="8" name="Footer Placeholder 7">
            <a:extLst>
              <a:ext uri="{FF2B5EF4-FFF2-40B4-BE49-F238E27FC236}">
                <a16:creationId xmlns:a16="http://schemas.microsoft.com/office/drawing/2014/main" id="{02CC538C-154D-477A-9E65-BF4EA734DE9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606557-CA97-9A76-FCEA-ABE8DA451479}"/>
              </a:ext>
            </a:extLst>
          </p:cNvPr>
          <p:cNvSpPr>
            <a:spLocks noGrp="1"/>
          </p:cNvSpPr>
          <p:nvPr>
            <p:ph type="sldNum" sz="quarter" idx="12"/>
          </p:nvPr>
        </p:nvSpPr>
        <p:spPr/>
        <p:txBody>
          <a:bodyPr/>
          <a:lstStyle/>
          <a:p>
            <a:fld id="{BFE336E3-2FA9-484A-9236-B926FE1614D3}" type="slidenum">
              <a:rPr lang="en-IN" smtClean="0"/>
              <a:t>‹#›</a:t>
            </a:fld>
            <a:endParaRPr lang="en-IN"/>
          </a:p>
        </p:txBody>
      </p:sp>
    </p:spTree>
    <p:extLst>
      <p:ext uri="{BB962C8B-B14F-4D97-AF65-F5344CB8AC3E}">
        <p14:creationId xmlns:p14="http://schemas.microsoft.com/office/powerpoint/2010/main" val="2704514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68657-DF54-98D6-0D64-A05515DC814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7A1676F-9C41-813C-B649-F85D5D4C80F8}"/>
              </a:ext>
            </a:extLst>
          </p:cNvPr>
          <p:cNvSpPr>
            <a:spLocks noGrp="1"/>
          </p:cNvSpPr>
          <p:nvPr>
            <p:ph type="dt" sz="half" idx="10"/>
          </p:nvPr>
        </p:nvSpPr>
        <p:spPr/>
        <p:txBody>
          <a:bodyPr/>
          <a:lstStyle/>
          <a:p>
            <a:fld id="{45A1E501-E094-4A72-8C88-1A914F8C2808}" type="datetimeFigureOut">
              <a:rPr lang="en-IN" smtClean="0"/>
              <a:t>19-10-2026</a:t>
            </a:fld>
            <a:endParaRPr lang="en-IN"/>
          </a:p>
        </p:txBody>
      </p:sp>
      <p:sp>
        <p:nvSpPr>
          <p:cNvPr id="4" name="Footer Placeholder 3">
            <a:extLst>
              <a:ext uri="{FF2B5EF4-FFF2-40B4-BE49-F238E27FC236}">
                <a16:creationId xmlns:a16="http://schemas.microsoft.com/office/drawing/2014/main" id="{3A69F06A-A2D2-77C8-E995-83770B48779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5D7295-292E-1C80-5DE6-7F9630C84398}"/>
              </a:ext>
            </a:extLst>
          </p:cNvPr>
          <p:cNvSpPr>
            <a:spLocks noGrp="1"/>
          </p:cNvSpPr>
          <p:nvPr>
            <p:ph type="sldNum" sz="quarter" idx="12"/>
          </p:nvPr>
        </p:nvSpPr>
        <p:spPr/>
        <p:txBody>
          <a:bodyPr/>
          <a:lstStyle/>
          <a:p>
            <a:fld id="{BFE336E3-2FA9-484A-9236-B926FE1614D3}" type="slidenum">
              <a:rPr lang="en-IN" smtClean="0"/>
              <a:t>‹#›</a:t>
            </a:fld>
            <a:endParaRPr lang="en-IN"/>
          </a:p>
        </p:txBody>
      </p:sp>
    </p:spTree>
    <p:extLst>
      <p:ext uri="{BB962C8B-B14F-4D97-AF65-F5344CB8AC3E}">
        <p14:creationId xmlns:p14="http://schemas.microsoft.com/office/powerpoint/2010/main" val="4011493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B75232-B57C-83F8-9EDF-EE0332742002}"/>
              </a:ext>
            </a:extLst>
          </p:cNvPr>
          <p:cNvSpPr>
            <a:spLocks noGrp="1"/>
          </p:cNvSpPr>
          <p:nvPr>
            <p:ph type="dt" sz="half" idx="10"/>
          </p:nvPr>
        </p:nvSpPr>
        <p:spPr/>
        <p:txBody>
          <a:bodyPr/>
          <a:lstStyle/>
          <a:p>
            <a:fld id="{45A1E501-E094-4A72-8C88-1A914F8C2808}" type="datetimeFigureOut">
              <a:rPr lang="en-IN" smtClean="0"/>
              <a:t>19-10-2026</a:t>
            </a:fld>
            <a:endParaRPr lang="en-IN"/>
          </a:p>
        </p:txBody>
      </p:sp>
      <p:sp>
        <p:nvSpPr>
          <p:cNvPr id="3" name="Footer Placeholder 2">
            <a:extLst>
              <a:ext uri="{FF2B5EF4-FFF2-40B4-BE49-F238E27FC236}">
                <a16:creationId xmlns:a16="http://schemas.microsoft.com/office/drawing/2014/main" id="{C4AA05AE-A45D-8533-126F-20E3627C80B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1BF8022-DD0B-7971-E11A-9296941B192A}"/>
              </a:ext>
            </a:extLst>
          </p:cNvPr>
          <p:cNvSpPr>
            <a:spLocks noGrp="1"/>
          </p:cNvSpPr>
          <p:nvPr>
            <p:ph type="sldNum" sz="quarter" idx="12"/>
          </p:nvPr>
        </p:nvSpPr>
        <p:spPr/>
        <p:txBody>
          <a:bodyPr/>
          <a:lstStyle/>
          <a:p>
            <a:fld id="{BFE336E3-2FA9-484A-9236-B926FE1614D3}" type="slidenum">
              <a:rPr lang="en-IN" smtClean="0"/>
              <a:t>‹#›</a:t>
            </a:fld>
            <a:endParaRPr lang="en-IN"/>
          </a:p>
        </p:txBody>
      </p:sp>
    </p:spTree>
    <p:extLst>
      <p:ext uri="{BB962C8B-B14F-4D97-AF65-F5344CB8AC3E}">
        <p14:creationId xmlns:p14="http://schemas.microsoft.com/office/powerpoint/2010/main" val="845815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9AEF9-B940-19AE-CEA8-8E461ADB8D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F11D25A-5816-5BC8-78B3-E595FAC9F5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4CF954B-DED7-CC0E-5579-6863123F03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675A0F-4B26-9B48-7DCF-71E6AEC880EE}"/>
              </a:ext>
            </a:extLst>
          </p:cNvPr>
          <p:cNvSpPr>
            <a:spLocks noGrp="1"/>
          </p:cNvSpPr>
          <p:nvPr>
            <p:ph type="dt" sz="half" idx="10"/>
          </p:nvPr>
        </p:nvSpPr>
        <p:spPr/>
        <p:txBody>
          <a:bodyPr/>
          <a:lstStyle/>
          <a:p>
            <a:fld id="{45A1E501-E094-4A72-8C88-1A914F8C2808}" type="datetimeFigureOut">
              <a:rPr lang="en-IN" smtClean="0"/>
              <a:t>19-10-2026</a:t>
            </a:fld>
            <a:endParaRPr lang="en-IN"/>
          </a:p>
        </p:txBody>
      </p:sp>
      <p:sp>
        <p:nvSpPr>
          <p:cNvPr id="6" name="Footer Placeholder 5">
            <a:extLst>
              <a:ext uri="{FF2B5EF4-FFF2-40B4-BE49-F238E27FC236}">
                <a16:creationId xmlns:a16="http://schemas.microsoft.com/office/drawing/2014/main" id="{71479148-2DB8-1C92-8F4D-8552D9EADD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8540BD-CE14-3295-7C33-84885D1FCA52}"/>
              </a:ext>
            </a:extLst>
          </p:cNvPr>
          <p:cNvSpPr>
            <a:spLocks noGrp="1"/>
          </p:cNvSpPr>
          <p:nvPr>
            <p:ph type="sldNum" sz="quarter" idx="12"/>
          </p:nvPr>
        </p:nvSpPr>
        <p:spPr/>
        <p:txBody>
          <a:bodyPr/>
          <a:lstStyle/>
          <a:p>
            <a:fld id="{BFE336E3-2FA9-484A-9236-B926FE1614D3}" type="slidenum">
              <a:rPr lang="en-IN" smtClean="0"/>
              <a:t>‹#›</a:t>
            </a:fld>
            <a:endParaRPr lang="en-IN"/>
          </a:p>
        </p:txBody>
      </p:sp>
    </p:spTree>
    <p:extLst>
      <p:ext uri="{BB962C8B-B14F-4D97-AF65-F5344CB8AC3E}">
        <p14:creationId xmlns:p14="http://schemas.microsoft.com/office/powerpoint/2010/main" val="2723424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FDC95-1EA2-F94A-17CF-48169EE3F6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978AC51-63C9-C529-F4B5-E7DB60C0D5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A6162E9-25F0-392B-2D13-21D2D515B6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014913-0C5A-27B4-50D3-424178DFDDFA}"/>
              </a:ext>
            </a:extLst>
          </p:cNvPr>
          <p:cNvSpPr>
            <a:spLocks noGrp="1"/>
          </p:cNvSpPr>
          <p:nvPr>
            <p:ph type="dt" sz="half" idx="10"/>
          </p:nvPr>
        </p:nvSpPr>
        <p:spPr/>
        <p:txBody>
          <a:bodyPr/>
          <a:lstStyle/>
          <a:p>
            <a:fld id="{45A1E501-E094-4A72-8C88-1A914F8C2808}" type="datetimeFigureOut">
              <a:rPr lang="en-IN" smtClean="0"/>
              <a:t>19-10-2026</a:t>
            </a:fld>
            <a:endParaRPr lang="en-IN"/>
          </a:p>
        </p:txBody>
      </p:sp>
      <p:sp>
        <p:nvSpPr>
          <p:cNvPr id="6" name="Footer Placeholder 5">
            <a:extLst>
              <a:ext uri="{FF2B5EF4-FFF2-40B4-BE49-F238E27FC236}">
                <a16:creationId xmlns:a16="http://schemas.microsoft.com/office/drawing/2014/main" id="{08DE7FA9-6462-9B1F-6D0E-3710CE96C2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236D02-BA0E-1B2E-E78F-9C123597EE78}"/>
              </a:ext>
            </a:extLst>
          </p:cNvPr>
          <p:cNvSpPr>
            <a:spLocks noGrp="1"/>
          </p:cNvSpPr>
          <p:nvPr>
            <p:ph type="sldNum" sz="quarter" idx="12"/>
          </p:nvPr>
        </p:nvSpPr>
        <p:spPr/>
        <p:txBody>
          <a:bodyPr/>
          <a:lstStyle/>
          <a:p>
            <a:fld id="{BFE336E3-2FA9-484A-9236-B926FE1614D3}" type="slidenum">
              <a:rPr lang="en-IN" smtClean="0"/>
              <a:t>‹#›</a:t>
            </a:fld>
            <a:endParaRPr lang="en-IN"/>
          </a:p>
        </p:txBody>
      </p:sp>
    </p:spTree>
    <p:extLst>
      <p:ext uri="{BB962C8B-B14F-4D97-AF65-F5344CB8AC3E}">
        <p14:creationId xmlns:p14="http://schemas.microsoft.com/office/powerpoint/2010/main" val="1068648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7088A-8933-A61C-6F5D-5B4C33D5BF0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2FF721B-91A5-5E01-AA66-1B8FC295E9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E7C92A-65F4-D1AD-18F3-BDBB1505AE2C}"/>
              </a:ext>
            </a:extLst>
          </p:cNvPr>
          <p:cNvSpPr>
            <a:spLocks noGrp="1"/>
          </p:cNvSpPr>
          <p:nvPr>
            <p:ph type="dt" sz="half" idx="10"/>
          </p:nvPr>
        </p:nvSpPr>
        <p:spPr/>
        <p:txBody>
          <a:bodyPr/>
          <a:lstStyle/>
          <a:p>
            <a:fld id="{45A1E501-E094-4A72-8C88-1A914F8C2808}" type="datetimeFigureOut">
              <a:rPr lang="en-IN" smtClean="0"/>
              <a:t>19-10-2026</a:t>
            </a:fld>
            <a:endParaRPr lang="en-IN"/>
          </a:p>
        </p:txBody>
      </p:sp>
      <p:sp>
        <p:nvSpPr>
          <p:cNvPr id="5" name="Footer Placeholder 4">
            <a:extLst>
              <a:ext uri="{FF2B5EF4-FFF2-40B4-BE49-F238E27FC236}">
                <a16:creationId xmlns:a16="http://schemas.microsoft.com/office/drawing/2014/main" id="{8256F82B-EF97-7C05-AB5C-1E67F6EAF3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8D8DC7-052B-4C00-41F9-DCE63E21CC57}"/>
              </a:ext>
            </a:extLst>
          </p:cNvPr>
          <p:cNvSpPr>
            <a:spLocks noGrp="1"/>
          </p:cNvSpPr>
          <p:nvPr>
            <p:ph type="sldNum" sz="quarter" idx="12"/>
          </p:nvPr>
        </p:nvSpPr>
        <p:spPr/>
        <p:txBody>
          <a:bodyPr/>
          <a:lstStyle/>
          <a:p>
            <a:fld id="{BFE336E3-2FA9-484A-9236-B926FE1614D3}" type="slidenum">
              <a:rPr lang="en-IN" smtClean="0"/>
              <a:t>‹#›</a:t>
            </a:fld>
            <a:endParaRPr lang="en-IN"/>
          </a:p>
        </p:txBody>
      </p:sp>
    </p:spTree>
    <p:extLst>
      <p:ext uri="{BB962C8B-B14F-4D97-AF65-F5344CB8AC3E}">
        <p14:creationId xmlns:p14="http://schemas.microsoft.com/office/powerpoint/2010/main" val="101549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97211E-F014-5495-C771-5F225AF20EE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78C097-3E53-D7D4-BBBA-27530727B7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9F6F9B-5D39-8817-E7AE-068A3D31D3F9}"/>
              </a:ext>
            </a:extLst>
          </p:cNvPr>
          <p:cNvSpPr>
            <a:spLocks noGrp="1"/>
          </p:cNvSpPr>
          <p:nvPr>
            <p:ph type="dt" sz="half" idx="10"/>
          </p:nvPr>
        </p:nvSpPr>
        <p:spPr/>
        <p:txBody>
          <a:bodyPr/>
          <a:lstStyle/>
          <a:p>
            <a:fld id="{45A1E501-E094-4A72-8C88-1A914F8C2808}" type="datetimeFigureOut">
              <a:rPr lang="en-IN" smtClean="0"/>
              <a:t>19-10-2026</a:t>
            </a:fld>
            <a:endParaRPr lang="en-IN"/>
          </a:p>
        </p:txBody>
      </p:sp>
      <p:sp>
        <p:nvSpPr>
          <p:cNvPr id="5" name="Footer Placeholder 4">
            <a:extLst>
              <a:ext uri="{FF2B5EF4-FFF2-40B4-BE49-F238E27FC236}">
                <a16:creationId xmlns:a16="http://schemas.microsoft.com/office/drawing/2014/main" id="{162B7AAB-3087-35FF-4C93-E2B8FCFA1B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2D1890-0835-FF1D-AFC9-9A6634CFC5D8}"/>
              </a:ext>
            </a:extLst>
          </p:cNvPr>
          <p:cNvSpPr>
            <a:spLocks noGrp="1"/>
          </p:cNvSpPr>
          <p:nvPr>
            <p:ph type="sldNum" sz="quarter" idx="12"/>
          </p:nvPr>
        </p:nvSpPr>
        <p:spPr/>
        <p:txBody>
          <a:bodyPr/>
          <a:lstStyle/>
          <a:p>
            <a:fld id="{BFE336E3-2FA9-484A-9236-B926FE1614D3}" type="slidenum">
              <a:rPr lang="en-IN" smtClean="0"/>
              <a:t>‹#›</a:t>
            </a:fld>
            <a:endParaRPr lang="en-IN"/>
          </a:p>
        </p:txBody>
      </p:sp>
    </p:spTree>
    <p:extLst>
      <p:ext uri="{BB962C8B-B14F-4D97-AF65-F5344CB8AC3E}">
        <p14:creationId xmlns:p14="http://schemas.microsoft.com/office/powerpoint/2010/main" val="2193740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80728C-8384-1EAF-E481-9106693CB4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8CB0821-A985-45B8-4998-659D72194C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E0515B-C2DB-1341-0BC8-4A04AD01F0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A1E501-E094-4A72-8C88-1A914F8C2808}" type="datetimeFigureOut">
              <a:rPr lang="en-IN" smtClean="0"/>
              <a:t>19-10-2026</a:t>
            </a:fld>
            <a:endParaRPr lang="en-IN"/>
          </a:p>
        </p:txBody>
      </p:sp>
      <p:sp>
        <p:nvSpPr>
          <p:cNvPr id="5" name="Footer Placeholder 4">
            <a:extLst>
              <a:ext uri="{FF2B5EF4-FFF2-40B4-BE49-F238E27FC236}">
                <a16:creationId xmlns:a16="http://schemas.microsoft.com/office/drawing/2014/main" id="{3D5E5C1B-0A59-5B26-259F-827978D9D8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4E68F7C-619A-2055-74B8-E0ED8AEA99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E336E3-2FA9-484A-9236-B926FE1614D3}" type="slidenum">
              <a:rPr lang="en-IN" smtClean="0"/>
              <a:t>‹#›</a:t>
            </a:fld>
            <a:endParaRPr lang="en-IN"/>
          </a:p>
        </p:txBody>
      </p:sp>
    </p:spTree>
    <p:extLst>
      <p:ext uri="{BB962C8B-B14F-4D97-AF65-F5344CB8AC3E}">
        <p14:creationId xmlns:p14="http://schemas.microsoft.com/office/powerpoint/2010/main" val="2313975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F5FA29E-34F5-CD49-BF48-AE3ED614B4F6}"/>
              </a:ext>
            </a:extLst>
          </p:cNvPr>
          <p:cNvSpPr txBox="1"/>
          <p:nvPr/>
        </p:nvSpPr>
        <p:spPr>
          <a:xfrm>
            <a:off x="1490763" y="843677"/>
            <a:ext cx="7867246" cy="2585323"/>
          </a:xfrm>
          <a:prstGeom prst="rect">
            <a:avLst/>
          </a:prstGeom>
          <a:noFill/>
        </p:spPr>
        <p:txBody>
          <a:bodyPr wrap="square">
            <a:spAutoFit/>
          </a:bodyPr>
          <a:lstStyle/>
          <a:p>
            <a:r>
              <a:rPr lang="en-IN" dirty="0">
                <a:solidFill>
                  <a:schemeClr val="bg1"/>
                </a:solidFill>
                <a:latin typeface="Arial" panose="020B0604020202020204" pitchFamily="34" charset="0"/>
                <a:cs typeface="Arial" panose="020B0604020202020204" pitchFamily="34" charset="0"/>
              </a:rPr>
              <a:t>Student Name: -Kumbhar Dilip </a:t>
            </a:r>
          </a:p>
          <a:p>
            <a:r>
              <a:rPr lang="en-IN" dirty="0">
                <a:solidFill>
                  <a:schemeClr val="bg1"/>
                </a:solidFill>
                <a:latin typeface="Arial" panose="020B0604020202020204" pitchFamily="34" charset="0"/>
                <a:cs typeface="Arial" panose="020B0604020202020204" pitchFamily="34" charset="0"/>
              </a:rPr>
              <a:t>College Name: - Indus University </a:t>
            </a:r>
          </a:p>
          <a:p>
            <a:r>
              <a:rPr lang="en-IN" dirty="0">
                <a:solidFill>
                  <a:schemeClr val="bg1"/>
                </a:solidFill>
                <a:latin typeface="Arial" panose="020B0604020202020204" pitchFamily="34" charset="0"/>
                <a:cs typeface="Arial" panose="020B0604020202020204" pitchFamily="34" charset="0"/>
              </a:rPr>
              <a:t>Internship: - Cyber Security Internship </a:t>
            </a:r>
          </a:p>
          <a:p>
            <a:r>
              <a:rPr lang="en-IN" dirty="0">
                <a:solidFill>
                  <a:schemeClr val="bg1"/>
                </a:solidFill>
                <a:latin typeface="Arial" panose="020B0604020202020204" pitchFamily="34" charset="0"/>
                <a:cs typeface="Arial" panose="020B0604020202020204" pitchFamily="34" charset="0"/>
              </a:rPr>
              <a:t>Organization: - DG Intern Hub </a:t>
            </a:r>
          </a:p>
          <a:p>
            <a:r>
              <a:rPr lang="en-IN" dirty="0">
                <a:solidFill>
                  <a:schemeClr val="bg1"/>
                </a:solidFill>
                <a:latin typeface="Arial" panose="020B0604020202020204" pitchFamily="34" charset="0"/>
                <a:cs typeface="Arial" panose="020B0604020202020204" pitchFamily="34" charset="0"/>
              </a:rPr>
              <a:t>Week 7 Assignment: - </a:t>
            </a:r>
            <a:r>
              <a:rPr lang="en-US" dirty="0">
                <a:solidFill>
                  <a:schemeClr val="bg1"/>
                </a:solidFill>
                <a:latin typeface="Arial" panose="020B0604020202020204" pitchFamily="34" charset="0"/>
                <a:cs typeface="Arial" panose="020B0604020202020204" pitchFamily="34" charset="0"/>
              </a:rPr>
              <a:t>VAPT (WEB APPLICATION TESTING WITH BURP SUITE)</a:t>
            </a:r>
            <a:endParaRPr lang="en-IN" dirty="0">
              <a:solidFill>
                <a:schemeClr val="bg1"/>
              </a:solidFill>
              <a:latin typeface="Arial" panose="020B0604020202020204" pitchFamily="34" charset="0"/>
              <a:cs typeface="Arial" panose="020B0604020202020204" pitchFamily="34" charset="0"/>
            </a:endParaRPr>
          </a:p>
          <a:p>
            <a:r>
              <a:rPr lang="en-IN" dirty="0">
                <a:solidFill>
                  <a:schemeClr val="bg1"/>
                </a:solidFill>
                <a:latin typeface="Arial" panose="020B0604020202020204" pitchFamily="34" charset="0"/>
                <a:cs typeface="Arial" panose="020B0604020202020204" pitchFamily="34" charset="0"/>
              </a:rPr>
              <a:t>SID: - dg/September/cyber/264 </a:t>
            </a:r>
          </a:p>
          <a:p>
            <a:r>
              <a:rPr lang="en-IN" dirty="0">
                <a:solidFill>
                  <a:schemeClr val="bg1"/>
                </a:solidFill>
                <a:latin typeface="Arial" panose="020B0604020202020204" pitchFamily="34" charset="0"/>
                <a:cs typeface="Arial" panose="020B0604020202020204" pitchFamily="34" charset="0"/>
              </a:rPr>
              <a:t>Mail: - dilipkumbhar.dginternshub@gmail.com </a:t>
            </a:r>
          </a:p>
          <a:p>
            <a:r>
              <a:rPr lang="en-IN" dirty="0">
                <a:solidFill>
                  <a:schemeClr val="bg1"/>
                </a:solidFill>
                <a:latin typeface="Arial" panose="020B0604020202020204" pitchFamily="34" charset="0"/>
                <a:cs typeface="Arial" panose="020B0604020202020204" pitchFamily="34" charset="0"/>
              </a:rPr>
              <a:t>Task 7: - Theory + Practical</a:t>
            </a:r>
          </a:p>
        </p:txBody>
      </p:sp>
    </p:spTree>
    <p:extLst>
      <p:ext uri="{BB962C8B-B14F-4D97-AF65-F5344CB8AC3E}">
        <p14:creationId xmlns:p14="http://schemas.microsoft.com/office/powerpoint/2010/main" val="130050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E509005-84BC-7966-5E2E-515972E46DF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D4B895C-9BFF-E2D3-23FA-6FFE9ACD1B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7364" y="3854507"/>
            <a:ext cx="4832796" cy="3003492"/>
          </a:xfrm>
          <a:prstGeom prst="rect">
            <a:avLst/>
          </a:prstGeom>
        </p:spPr>
      </p:pic>
      <p:pic>
        <p:nvPicPr>
          <p:cNvPr id="6" name="Picture 5">
            <a:extLst>
              <a:ext uri="{FF2B5EF4-FFF2-40B4-BE49-F238E27FC236}">
                <a16:creationId xmlns:a16="http://schemas.microsoft.com/office/drawing/2014/main" id="{B67C9040-559F-A381-F3CD-A642E84049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81757" y="957934"/>
            <a:ext cx="3888313" cy="2821141"/>
          </a:xfrm>
          <a:prstGeom prst="rect">
            <a:avLst/>
          </a:prstGeom>
        </p:spPr>
      </p:pic>
      <p:pic>
        <p:nvPicPr>
          <p:cNvPr id="8" name="Picture 7">
            <a:extLst>
              <a:ext uri="{FF2B5EF4-FFF2-40B4-BE49-F238E27FC236}">
                <a16:creationId xmlns:a16="http://schemas.microsoft.com/office/drawing/2014/main" id="{0A22FB31-0BC2-8636-C49B-563E6EB7E4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63440" y="3853599"/>
            <a:ext cx="5040475" cy="3004400"/>
          </a:xfrm>
          <a:prstGeom prst="rect">
            <a:avLst/>
          </a:prstGeom>
        </p:spPr>
      </p:pic>
      <p:pic>
        <p:nvPicPr>
          <p:cNvPr id="10" name="Picture 9">
            <a:extLst>
              <a:ext uri="{FF2B5EF4-FFF2-40B4-BE49-F238E27FC236}">
                <a16:creationId xmlns:a16="http://schemas.microsoft.com/office/drawing/2014/main" id="{8C6F2E92-3600-0779-9C9A-A5B8A7727E8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58631" y="986043"/>
            <a:ext cx="3191529" cy="2830748"/>
          </a:xfrm>
          <a:prstGeom prst="rect">
            <a:avLst/>
          </a:prstGeom>
        </p:spPr>
      </p:pic>
      <p:sp>
        <p:nvSpPr>
          <p:cNvPr id="12" name="TextBox 11">
            <a:extLst>
              <a:ext uri="{FF2B5EF4-FFF2-40B4-BE49-F238E27FC236}">
                <a16:creationId xmlns:a16="http://schemas.microsoft.com/office/drawing/2014/main" id="{5FCA3889-E188-CAFD-D4EA-54EC25F27B18}"/>
              </a:ext>
            </a:extLst>
          </p:cNvPr>
          <p:cNvSpPr txBox="1"/>
          <p:nvPr/>
        </p:nvSpPr>
        <p:spPr>
          <a:xfrm>
            <a:off x="318087" y="382090"/>
            <a:ext cx="6094378" cy="646331"/>
          </a:xfrm>
          <a:prstGeom prst="rect">
            <a:avLst/>
          </a:prstGeom>
          <a:noFill/>
        </p:spPr>
        <p:txBody>
          <a:bodyPr wrap="square">
            <a:spAutoFit/>
          </a:bodyPr>
          <a:lstStyle/>
          <a:p>
            <a:r>
              <a:rPr lang="en-IN" dirty="0">
                <a:solidFill>
                  <a:schemeClr val="bg1"/>
                </a:solidFill>
              </a:rPr>
              <a:t>Task 22: Burp Suite Setup &amp; Interception Install Burp Suite Community Edition</a:t>
            </a:r>
          </a:p>
        </p:txBody>
      </p:sp>
      <p:sp>
        <p:nvSpPr>
          <p:cNvPr id="14" name="TextBox 13">
            <a:extLst>
              <a:ext uri="{FF2B5EF4-FFF2-40B4-BE49-F238E27FC236}">
                <a16:creationId xmlns:a16="http://schemas.microsoft.com/office/drawing/2014/main" id="{0FF7B0C9-2DD6-E0B0-A444-F666F70479D8}"/>
              </a:ext>
            </a:extLst>
          </p:cNvPr>
          <p:cNvSpPr txBox="1"/>
          <p:nvPr/>
        </p:nvSpPr>
        <p:spPr>
          <a:xfrm>
            <a:off x="309160" y="1111822"/>
            <a:ext cx="3984036" cy="2031325"/>
          </a:xfrm>
          <a:prstGeom prst="rect">
            <a:avLst/>
          </a:prstGeom>
          <a:noFill/>
        </p:spPr>
        <p:txBody>
          <a:bodyPr wrap="square">
            <a:spAutoFit/>
          </a:bodyPr>
          <a:lstStyle/>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Open Burp Suite and select </a:t>
            </a:r>
            <a:r>
              <a:rPr lang="en-IN" sz="1400" b="1" dirty="0">
                <a:solidFill>
                  <a:schemeClr val="bg1"/>
                </a:solidFill>
                <a:latin typeface="Arial" panose="020B0604020202020204" pitchFamily="34" charset="0"/>
                <a:cs typeface="Arial" panose="020B0604020202020204" pitchFamily="34" charset="0"/>
              </a:rPr>
              <a:t>Temporary project in memory</a:t>
            </a:r>
            <a:r>
              <a:rPr lang="en-IN" sz="1400" dirty="0">
                <a:solidFill>
                  <a:schemeClr val="bg1"/>
                </a:solidFill>
                <a:latin typeface="Arial" panose="020B0604020202020204" pitchFamily="34" charset="0"/>
                <a:cs typeface="Arial" panose="020B0604020202020204" pitchFamily="34" charset="0"/>
              </a:rPr>
              <a:t>.</a:t>
            </a: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Go to </a:t>
            </a:r>
            <a:r>
              <a:rPr lang="en-IN" sz="1400" b="1" dirty="0">
                <a:solidFill>
                  <a:schemeClr val="bg1"/>
                </a:solidFill>
                <a:latin typeface="Arial" panose="020B0604020202020204" pitchFamily="34" charset="0"/>
                <a:cs typeface="Arial" panose="020B0604020202020204" pitchFamily="34" charset="0"/>
              </a:rPr>
              <a:t>Settings → Proxy</a:t>
            </a:r>
            <a:r>
              <a:rPr lang="en-IN" sz="1400" dirty="0">
                <a:solidFill>
                  <a:schemeClr val="bg1"/>
                </a:solidFill>
                <a:latin typeface="Arial" panose="020B0604020202020204" pitchFamily="34" charset="0"/>
                <a:cs typeface="Arial" panose="020B0604020202020204" pitchFamily="34" charset="0"/>
              </a:rPr>
              <a:t> and check that 127.0.0.1:8080 is running.</a:t>
            </a: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Configure Firefox to use the Burp proxy.</a:t>
            </a: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Download and import Burp’s CA certificate into Firefox.</a:t>
            </a: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Open </a:t>
            </a:r>
            <a:r>
              <a:rPr lang="en-IN" sz="1400" b="1" dirty="0">
                <a:solidFill>
                  <a:schemeClr val="bg1"/>
                </a:solidFill>
                <a:latin typeface="Arial" panose="020B0604020202020204" pitchFamily="34" charset="0"/>
                <a:cs typeface="Arial" panose="020B0604020202020204" pitchFamily="34" charset="0"/>
              </a:rPr>
              <a:t>Proxy → Intercept</a:t>
            </a:r>
            <a:r>
              <a:rPr lang="en-IN" sz="1400" dirty="0">
                <a:solidFill>
                  <a:schemeClr val="bg1"/>
                </a:solidFill>
                <a:latin typeface="Arial" panose="020B0604020202020204" pitchFamily="34" charset="0"/>
                <a:cs typeface="Arial" panose="020B0604020202020204" pitchFamily="34" charset="0"/>
              </a:rPr>
              <a:t> and turn interception on.</a:t>
            </a:r>
          </a:p>
        </p:txBody>
      </p:sp>
    </p:spTree>
    <p:extLst>
      <p:ext uri="{BB962C8B-B14F-4D97-AF65-F5344CB8AC3E}">
        <p14:creationId xmlns:p14="http://schemas.microsoft.com/office/powerpoint/2010/main" val="3522007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47309BD-738F-6188-EBA4-2A57F5001EC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F5F2BF5-A62B-037B-D3A3-96B7766215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5836" y="3981450"/>
            <a:ext cx="6596164" cy="2876550"/>
          </a:xfrm>
          <a:prstGeom prst="rect">
            <a:avLst/>
          </a:prstGeom>
        </p:spPr>
      </p:pic>
      <p:pic>
        <p:nvPicPr>
          <p:cNvPr id="5" name="Picture 4">
            <a:extLst>
              <a:ext uri="{FF2B5EF4-FFF2-40B4-BE49-F238E27FC236}">
                <a16:creationId xmlns:a16="http://schemas.microsoft.com/office/drawing/2014/main" id="{595E7FAF-1B16-9909-E698-E110185CCA25}"/>
              </a:ext>
            </a:extLst>
          </p:cNvPr>
          <p:cNvPicPr>
            <a:picLocks noChangeAspect="1"/>
          </p:cNvPicPr>
          <p:nvPr/>
        </p:nvPicPr>
        <p:blipFill>
          <a:blip r:embed="rId4">
            <a:extLst>
              <a:ext uri="{28A0092B-C50C-407E-A947-70E740481C1C}">
                <a14:useLocalDpi xmlns:a14="http://schemas.microsoft.com/office/drawing/2010/main" val="0"/>
              </a:ext>
            </a:extLst>
          </a:blip>
          <a:srcRect t="11271"/>
          <a:stretch>
            <a:fillRect/>
          </a:stretch>
        </p:blipFill>
        <p:spPr>
          <a:xfrm>
            <a:off x="7078203" y="1247774"/>
            <a:ext cx="5113797" cy="2733675"/>
          </a:xfrm>
          <a:prstGeom prst="rect">
            <a:avLst/>
          </a:prstGeom>
        </p:spPr>
      </p:pic>
      <p:pic>
        <p:nvPicPr>
          <p:cNvPr id="7" name="Picture 6">
            <a:extLst>
              <a:ext uri="{FF2B5EF4-FFF2-40B4-BE49-F238E27FC236}">
                <a16:creationId xmlns:a16="http://schemas.microsoft.com/office/drawing/2014/main" id="{76B84FE6-42DB-6993-7C27-89F61A15A0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50492" y="2233410"/>
            <a:ext cx="4527711" cy="1748040"/>
          </a:xfrm>
          <a:prstGeom prst="rect">
            <a:avLst/>
          </a:prstGeom>
        </p:spPr>
      </p:pic>
      <p:pic>
        <p:nvPicPr>
          <p:cNvPr id="9" name="Picture 8">
            <a:extLst>
              <a:ext uri="{FF2B5EF4-FFF2-40B4-BE49-F238E27FC236}">
                <a16:creationId xmlns:a16="http://schemas.microsoft.com/office/drawing/2014/main" id="{091A62C1-626C-2E15-6CD9-76AF00A442D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3981450"/>
            <a:ext cx="5595836" cy="2876550"/>
          </a:xfrm>
          <a:prstGeom prst="rect">
            <a:avLst/>
          </a:prstGeom>
        </p:spPr>
      </p:pic>
      <p:sp>
        <p:nvSpPr>
          <p:cNvPr id="11" name="TextBox 10">
            <a:extLst>
              <a:ext uri="{FF2B5EF4-FFF2-40B4-BE49-F238E27FC236}">
                <a16:creationId xmlns:a16="http://schemas.microsoft.com/office/drawing/2014/main" id="{627F0CFF-A41F-F74C-D0C0-9AECF46799B1}"/>
              </a:ext>
            </a:extLst>
          </p:cNvPr>
          <p:cNvSpPr txBox="1"/>
          <p:nvPr/>
        </p:nvSpPr>
        <p:spPr>
          <a:xfrm>
            <a:off x="1095375" y="369601"/>
            <a:ext cx="6096000" cy="1615827"/>
          </a:xfrm>
          <a:prstGeom prst="rect">
            <a:avLst/>
          </a:prstGeom>
          <a:noFill/>
        </p:spPr>
        <p:txBody>
          <a:bodyPr wrap="square">
            <a:spAutoFit/>
          </a:bodyPr>
          <a:lstStyle/>
          <a:p>
            <a:pPr marL="0" marR="0" lvl="0" indent="-342900" algn="l">
              <a:spcBef>
                <a:spcPts val="600"/>
              </a:spcBef>
              <a:buFont typeface="+mj-lt"/>
              <a:buAutoNum type="arabicPeriod" startAt="6"/>
            </a:pPr>
            <a:r>
              <a:rPr lang="en-IN" sz="1400" b="0" i="0" dirty="0">
                <a:solidFill>
                  <a:schemeClr val="bg1"/>
                </a:solidFill>
                <a:effectLst/>
                <a:latin typeface="Arial" panose="020B0604020202020204" pitchFamily="34" charset="0"/>
                <a:cs typeface="Arial" panose="020B0604020202020204" pitchFamily="34" charset="0"/>
              </a:rPr>
              <a:t>Visit a practice website and log in using a test account.</a:t>
            </a:r>
          </a:p>
          <a:p>
            <a:pPr marL="0" marR="0" lvl="0" indent="-342900" algn="l">
              <a:spcBef>
                <a:spcPts val="600"/>
              </a:spcBef>
              <a:buFont typeface="+mj-lt"/>
              <a:buAutoNum type="arabicPeriod" startAt="6"/>
            </a:pPr>
            <a:r>
              <a:rPr lang="en-IN" sz="1400" b="0" i="0" dirty="0" err="1">
                <a:solidFill>
                  <a:schemeClr val="bg1"/>
                </a:solidFill>
                <a:effectLst/>
                <a:latin typeface="Arial" panose="020B0604020202020204" pitchFamily="34" charset="0"/>
                <a:cs typeface="Arial" panose="020B0604020202020204" pitchFamily="34" charset="0"/>
              </a:rPr>
              <a:t>Analyze</a:t>
            </a:r>
            <a:r>
              <a:rPr lang="en-IN" sz="1400" b="0" i="0" dirty="0">
                <a:solidFill>
                  <a:schemeClr val="bg1"/>
                </a:solidFill>
                <a:effectLst/>
                <a:latin typeface="Arial" panose="020B0604020202020204" pitchFamily="34" charset="0"/>
                <a:cs typeface="Arial" panose="020B0604020202020204" pitchFamily="34" charset="0"/>
              </a:rPr>
              <a:t> the captured request, including its method, URL, headers, and parameters.</a:t>
            </a:r>
          </a:p>
          <a:p>
            <a:pPr marL="0" marR="0" lvl="0" indent="-342900" algn="l">
              <a:spcBef>
                <a:spcPts val="600"/>
              </a:spcBef>
              <a:buFont typeface="+mj-lt"/>
              <a:buAutoNum type="arabicPeriod" startAt="6"/>
            </a:pPr>
            <a:r>
              <a:rPr lang="en-IN" sz="1400" b="0" i="0" dirty="0">
                <a:solidFill>
                  <a:schemeClr val="bg1"/>
                </a:solidFill>
                <a:effectLst/>
                <a:latin typeface="Arial" panose="020B0604020202020204" pitchFamily="34" charset="0"/>
                <a:cs typeface="Arial" panose="020B0604020202020204" pitchFamily="34" charset="0"/>
              </a:rPr>
              <a:t>Click </a:t>
            </a:r>
            <a:r>
              <a:rPr lang="en-IN" sz="1400" b="1" i="0" dirty="0">
                <a:solidFill>
                  <a:schemeClr val="bg1"/>
                </a:solidFill>
                <a:effectLst/>
                <a:latin typeface="Arial" panose="020B0604020202020204" pitchFamily="34" charset="0"/>
                <a:cs typeface="Arial" panose="020B0604020202020204" pitchFamily="34" charset="0"/>
              </a:rPr>
              <a:t>Forward</a:t>
            </a:r>
            <a:r>
              <a:rPr lang="en-IN" sz="1400" b="0" i="0" dirty="0">
                <a:solidFill>
                  <a:schemeClr val="bg1"/>
                </a:solidFill>
                <a:effectLst/>
                <a:latin typeface="Arial" panose="020B0604020202020204" pitchFamily="34" charset="0"/>
                <a:cs typeface="Arial" panose="020B0604020202020204" pitchFamily="34" charset="0"/>
              </a:rPr>
              <a:t> and check the server response in </a:t>
            </a:r>
            <a:r>
              <a:rPr lang="en-IN" sz="1400" b="1" i="0" dirty="0">
                <a:solidFill>
                  <a:schemeClr val="bg1"/>
                </a:solidFill>
                <a:effectLst/>
                <a:latin typeface="Arial" panose="020B0604020202020204" pitchFamily="34" charset="0"/>
                <a:cs typeface="Arial" panose="020B0604020202020204" pitchFamily="34" charset="0"/>
              </a:rPr>
              <a:t>HTTP history</a:t>
            </a:r>
            <a:r>
              <a:rPr lang="en-IN" sz="1400" b="0" i="0" dirty="0">
                <a:solidFill>
                  <a:schemeClr val="bg1"/>
                </a:solidFill>
                <a:effectLst/>
                <a:latin typeface="Arial" panose="020B0604020202020204" pitchFamily="34" charset="0"/>
                <a:cs typeface="Arial" panose="020B0604020202020204" pitchFamily="34" charset="0"/>
              </a:rPr>
              <a:t>.</a:t>
            </a:r>
          </a:p>
          <a:p>
            <a:pPr marL="0" marR="0" lvl="0" indent="-342900" algn="l">
              <a:spcBef>
                <a:spcPts val="600"/>
              </a:spcBef>
              <a:buFont typeface="+mj-lt"/>
              <a:buAutoNum type="arabicPeriod" startAt="6"/>
            </a:pPr>
            <a:r>
              <a:rPr lang="en-IN" sz="1400" b="0" i="0" dirty="0">
                <a:solidFill>
                  <a:schemeClr val="bg1"/>
                </a:solidFill>
                <a:effectLst/>
                <a:latin typeface="Arial" panose="020B0604020202020204" pitchFamily="34" charset="0"/>
                <a:cs typeface="Arial" panose="020B0604020202020204" pitchFamily="34" charset="0"/>
              </a:rPr>
              <a:t>Take screenshots of the captured request and response, hiding sensitive information.</a:t>
            </a:r>
          </a:p>
        </p:txBody>
      </p:sp>
    </p:spTree>
    <p:extLst>
      <p:ext uri="{BB962C8B-B14F-4D97-AF65-F5344CB8AC3E}">
        <p14:creationId xmlns:p14="http://schemas.microsoft.com/office/powerpoint/2010/main" val="1495757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CEEF7D6-3C71-9BBD-8DFB-484BE576919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0A231B1-9580-A3AD-3EEF-DA480122A1E5}"/>
              </a:ext>
            </a:extLst>
          </p:cNvPr>
          <p:cNvPicPr>
            <a:picLocks noChangeAspect="1"/>
          </p:cNvPicPr>
          <p:nvPr/>
        </p:nvPicPr>
        <p:blipFill>
          <a:blip r:embed="rId3">
            <a:extLst>
              <a:ext uri="{28A0092B-C50C-407E-A947-70E740481C1C}">
                <a14:useLocalDpi xmlns:a14="http://schemas.microsoft.com/office/drawing/2010/main" val="0"/>
              </a:ext>
            </a:extLst>
          </a:blip>
          <a:srcRect b="13928"/>
          <a:stretch>
            <a:fillRect/>
          </a:stretch>
        </p:blipFill>
        <p:spPr>
          <a:xfrm>
            <a:off x="5993295" y="3535879"/>
            <a:ext cx="6198705" cy="3322121"/>
          </a:xfrm>
          <a:prstGeom prst="rect">
            <a:avLst/>
          </a:prstGeom>
        </p:spPr>
      </p:pic>
      <p:pic>
        <p:nvPicPr>
          <p:cNvPr id="5" name="Picture 4">
            <a:extLst>
              <a:ext uri="{FF2B5EF4-FFF2-40B4-BE49-F238E27FC236}">
                <a16:creationId xmlns:a16="http://schemas.microsoft.com/office/drawing/2014/main" id="{32CA9305-7996-8217-8E31-A0F7ED6498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28591" y="832456"/>
            <a:ext cx="7063409" cy="2596544"/>
          </a:xfrm>
          <a:prstGeom prst="rect">
            <a:avLst/>
          </a:prstGeom>
        </p:spPr>
      </p:pic>
      <p:pic>
        <p:nvPicPr>
          <p:cNvPr id="7" name="Picture 6">
            <a:extLst>
              <a:ext uri="{FF2B5EF4-FFF2-40B4-BE49-F238E27FC236}">
                <a16:creationId xmlns:a16="http://schemas.microsoft.com/office/drawing/2014/main" id="{7959E5A7-81B9-ECF4-FE38-CEA2048DB5AB}"/>
              </a:ext>
            </a:extLst>
          </p:cNvPr>
          <p:cNvPicPr>
            <a:picLocks noChangeAspect="1"/>
          </p:cNvPicPr>
          <p:nvPr/>
        </p:nvPicPr>
        <p:blipFill>
          <a:blip r:embed="rId5">
            <a:extLst>
              <a:ext uri="{28A0092B-C50C-407E-A947-70E740481C1C}">
                <a14:useLocalDpi xmlns:a14="http://schemas.microsoft.com/office/drawing/2010/main" val="0"/>
              </a:ext>
            </a:extLst>
          </a:blip>
          <a:srcRect r="15920" b="8779"/>
          <a:stretch>
            <a:fillRect/>
          </a:stretch>
        </p:blipFill>
        <p:spPr>
          <a:xfrm>
            <a:off x="1172817" y="3580158"/>
            <a:ext cx="4691269" cy="3277842"/>
          </a:xfrm>
          <a:prstGeom prst="rect">
            <a:avLst/>
          </a:prstGeom>
        </p:spPr>
      </p:pic>
      <p:sp>
        <p:nvSpPr>
          <p:cNvPr id="9" name="TextBox 8">
            <a:extLst>
              <a:ext uri="{FF2B5EF4-FFF2-40B4-BE49-F238E27FC236}">
                <a16:creationId xmlns:a16="http://schemas.microsoft.com/office/drawing/2014/main" id="{91C24D96-ACD6-2CC1-0526-BB2A1AE64EC1}"/>
              </a:ext>
            </a:extLst>
          </p:cNvPr>
          <p:cNvSpPr txBox="1"/>
          <p:nvPr/>
        </p:nvSpPr>
        <p:spPr>
          <a:xfrm>
            <a:off x="444775" y="223486"/>
            <a:ext cx="3550756" cy="923330"/>
          </a:xfrm>
          <a:prstGeom prst="rect">
            <a:avLst/>
          </a:prstGeom>
          <a:noFill/>
        </p:spPr>
        <p:txBody>
          <a:bodyPr wrap="square">
            <a:spAutoFit/>
          </a:bodyPr>
          <a:lstStyle/>
          <a:p>
            <a:r>
              <a:rPr lang="en-IN" dirty="0">
                <a:solidFill>
                  <a:schemeClr val="bg1"/>
                </a:solidFill>
                <a:latin typeface="Arial" panose="020B0604020202020204" pitchFamily="34" charset="0"/>
                <a:cs typeface="Arial" panose="020B0604020202020204" pitchFamily="34" charset="0"/>
              </a:rPr>
              <a:t>Task 23: Recon + Mapping Web Application Use Burp Proxy + Target Tab</a:t>
            </a:r>
          </a:p>
        </p:txBody>
      </p:sp>
    </p:spTree>
    <p:extLst>
      <p:ext uri="{BB962C8B-B14F-4D97-AF65-F5344CB8AC3E}">
        <p14:creationId xmlns:p14="http://schemas.microsoft.com/office/powerpoint/2010/main" val="1988740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6589C7D-99D6-1536-A4FB-6ACDAAAB864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734466D-9AE4-CA5E-0867-856A5DF681A4}"/>
              </a:ext>
            </a:extLst>
          </p:cNvPr>
          <p:cNvSpPr txBox="1"/>
          <p:nvPr/>
        </p:nvSpPr>
        <p:spPr>
          <a:xfrm>
            <a:off x="609600" y="726330"/>
            <a:ext cx="6097656" cy="2600712"/>
          </a:xfrm>
          <a:prstGeom prst="rect">
            <a:avLst/>
          </a:prstGeom>
          <a:noFill/>
        </p:spPr>
        <p:txBody>
          <a:bodyPr wrap="square">
            <a:spAutoFit/>
          </a:bodyPr>
          <a:lstStyle/>
          <a:p>
            <a:pPr marL="0" marR="0" indent="0" algn="l">
              <a:spcBef>
                <a:spcPts val="1800"/>
              </a:spcBef>
              <a:buNone/>
            </a:pPr>
            <a:r>
              <a:rPr lang="en-IN" sz="1600" b="1" i="0" dirty="0">
                <a:solidFill>
                  <a:schemeClr val="bg1"/>
                </a:solidFill>
                <a:effectLst/>
                <a:latin typeface="Arial" panose="020B0604020202020204" pitchFamily="34" charset="0"/>
                <a:cs typeface="Arial" panose="020B0604020202020204" pitchFamily="34" charset="0"/>
              </a:rPr>
              <a:t>Steps to Perform</a:t>
            </a:r>
          </a:p>
          <a:p>
            <a:pPr marL="0" marR="0" lvl="0" indent="-342900" algn="l">
              <a:spcBef>
                <a:spcPts val="600"/>
              </a:spcBef>
              <a:buFont typeface="+mj-lt"/>
              <a:buAutoNum type="arabicPeriod"/>
            </a:pPr>
            <a:r>
              <a:rPr lang="en-IN" sz="1400" b="0" i="0" dirty="0">
                <a:solidFill>
                  <a:schemeClr val="bg1"/>
                </a:solidFill>
                <a:effectLst/>
                <a:latin typeface="Arial" panose="020B0604020202020204" pitchFamily="34" charset="0"/>
                <a:cs typeface="Arial" panose="020B0604020202020204" pitchFamily="34" charset="0"/>
              </a:rPr>
              <a:t>Open Burp Suite and configure the browser proxy.</a:t>
            </a:r>
          </a:p>
          <a:p>
            <a:pPr marL="0" marR="0" lvl="0" indent="-342900" algn="l">
              <a:spcBef>
                <a:spcPts val="600"/>
              </a:spcBef>
              <a:buFont typeface="+mj-lt"/>
              <a:buAutoNum type="arabicPeriod"/>
            </a:pPr>
            <a:r>
              <a:rPr lang="en-IN" sz="1400" b="0" i="0" dirty="0">
                <a:solidFill>
                  <a:schemeClr val="bg1"/>
                </a:solidFill>
                <a:effectLst/>
                <a:latin typeface="Arial" panose="020B0604020202020204" pitchFamily="34" charset="0"/>
                <a:cs typeface="Arial" panose="020B0604020202020204" pitchFamily="34" charset="0"/>
              </a:rPr>
              <a:t>Open the DVWA application at http://127.0.0.1:42001/.</a:t>
            </a:r>
          </a:p>
          <a:p>
            <a:pPr marL="0" marR="0" lvl="0" indent="-342900" algn="l">
              <a:spcBef>
                <a:spcPts val="600"/>
              </a:spcBef>
              <a:buFont typeface="+mj-lt"/>
              <a:buAutoNum type="arabicPeriod"/>
            </a:pPr>
            <a:r>
              <a:rPr lang="en-IN" sz="1400" b="0" i="0" dirty="0">
                <a:solidFill>
                  <a:schemeClr val="bg1"/>
                </a:solidFill>
                <a:effectLst/>
                <a:latin typeface="Arial" panose="020B0604020202020204" pitchFamily="34" charset="0"/>
                <a:cs typeface="Arial" panose="020B0604020202020204" pitchFamily="34" charset="0"/>
              </a:rPr>
              <a:t>Browse the application and its available pages.</a:t>
            </a:r>
          </a:p>
          <a:p>
            <a:pPr marL="0" marR="0" lvl="0" indent="-342900" algn="l">
              <a:spcBef>
                <a:spcPts val="600"/>
              </a:spcBef>
              <a:buFont typeface="+mj-lt"/>
              <a:buAutoNum type="arabicPeriod"/>
            </a:pPr>
            <a:r>
              <a:rPr lang="en-IN" sz="1400" b="0" i="0" dirty="0">
                <a:solidFill>
                  <a:schemeClr val="bg1"/>
                </a:solidFill>
                <a:effectLst/>
                <a:latin typeface="Arial" panose="020B0604020202020204" pitchFamily="34" charset="0"/>
                <a:cs typeface="Arial" panose="020B0604020202020204" pitchFamily="34" charset="0"/>
              </a:rPr>
              <a:t>Go to </a:t>
            </a:r>
            <a:r>
              <a:rPr lang="en-IN" sz="1400" b="1" i="0" dirty="0">
                <a:solidFill>
                  <a:schemeClr val="bg1"/>
                </a:solidFill>
                <a:effectLst/>
                <a:latin typeface="Arial" panose="020B0604020202020204" pitchFamily="34" charset="0"/>
                <a:cs typeface="Arial" panose="020B0604020202020204" pitchFamily="34" charset="0"/>
              </a:rPr>
              <a:t>Target → Site map</a:t>
            </a:r>
            <a:r>
              <a:rPr lang="en-IN" sz="1400" b="0" i="0" dirty="0">
                <a:solidFill>
                  <a:schemeClr val="bg1"/>
                </a:solidFill>
                <a:effectLst/>
                <a:latin typeface="Arial" panose="020B0604020202020204" pitchFamily="34" charset="0"/>
                <a:cs typeface="Arial" panose="020B0604020202020204" pitchFamily="34" charset="0"/>
              </a:rPr>
              <a:t> and expand the target host.</a:t>
            </a:r>
          </a:p>
          <a:p>
            <a:pPr marL="0" marR="0" lvl="0" indent="-342900" algn="l">
              <a:spcBef>
                <a:spcPts val="600"/>
              </a:spcBef>
              <a:buFont typeface="+mj-lt"/>
              <a:buAutoNum type="arabicPeriod"/>
            </a:pPr>
            <a:r>
              <a:rPr lang="en-IN" sz="1400" b="0" i="0" dirty="0">
                <a:solidFill>
                  <a:schemeClr val="bg1"/>
                </a:solidFill>
                <a:effectLst/>
                <a:latin typeface="Arial" panose="020B0604020202020204" pitchFamily="34" charset="0"/>
                <a:cs typeface="Arial" panose="020B0604020202020204" pitchFamily="34" charset="0"/>
              </a:rPr>
              <a:t>Open </a:t>
            </a:r>
            <a:r>
              <a:rPr lang="en-IN" sz="1400" b="1" i="0" dirty="0">
                <a:solidFill>
                  <a:schemeClr val="bg1"/>
                </a:solidFill>
                <a:effectLst/>
                <a:latin typeface="Arial" panose="020B0604020202020204" pitchFamily="34" charset="0"/>
                <a:cs typeface="Arial" panose="020B0604020202020204" pitchFamily="34" charset="0"/>
              </a:rPr>
              <a:t>Proxy → HTTP history</a:t>
            </a:r>
            <a:r>
              <a:rPr lang="en-IN" sz="1400" b="0" i="0" dirty="0">
                <a:solidFill>
                  <a:schemeClr val="bg1"/>
                </a:solidFill>
                <a:effectLst/>
                <a:latin typeface="Arial" panose="020B0604020202020204" pitchFamily="34" charset="0"/>
                <a:cs typeface="Arial" panose="020B0604020202020204" pitchFamily="34" charset="0"/>
              </a:rPr>
              <a:t> to review requests and responses.</a:t>
            </a:r>
          </a:p>
          <a:p>
            <a:pPr marL="0" marR="0" lvl="0" indent="-342900" algn="l">
              <a:spcBef>
                <a:spcPts val="600"/>
              </a:spcBef>
              <a:buFont typeface="+mj-lt"/>
              <a:buAutoNum type="arabicPeriod"/>
            </a:pPr>
            <a:r>
              <a:rPr lang="en-IN" sz="1400" b="0" i="0" dirty="0">
                <a:solidFill>
                  <a:schemeClr val="bg1"/>
                </a:solidFill>
                <a:effectLst/>
                <a:latin typeface="Arial" panose="020B0604020202020204" pitchFamily="34" charset="0"/>
                <a:cs typeface="Arial" panose="020B0604020202020204" pitchFamily="34" charset="0"/>
              </a:rPr>
              <a:t>Identify endpoints, HTTP methods (GET/POST), and request parameters.</a:t>
            </a:r>
          </a:p>
          <a:p>
            <a:pPr marL="0" marR="0" lvl="0" indent="-342900" algn="l">
              <a:spcBef>
                <a:spcPts val="600"/>
              </a:spcBef>
              <a:buFont typeface="+mj-lt"/>
              <a:buAutoNum type="arabicPeriod"/>
            </a:pPr>
            <a:r>
              <a:rPr lang="en-IN" sz="1400" b="0" i="0" dirty="0">
                <a:solidFill>
                  <a:schemeClr val="bg1"/>
                </a:solidFill>
                <a:effectLst/>
                <a:latin typeface="Arial" panose="020B0604020202020204" pitchFamily="34" charset="0"/>
                <a:cs typeface="Arial" panose="020B0604020202020204" pitchFamily="34" charset="0"/>
              </a:rPr>
              <a:t>Record the findings in an attack-surface table.</a:t>
            </a:r>
          </a:p>
        </p:txBody>
      </p:sp>
      <p:graphicFrame>
        <p:nvGraphicFramePr>
          <p:cNvPr id="4" name="Table 3">
            <a:extLst>
              <a:ext uri="{FF2B5EF4-FFF2-40B4-BE49-F238E27FC236}">
                <a16:creationId xmlns:a16="http://schemas.microsoft.com/office/drawing/2014/main" id="{AB493467-5B90-5A29-CB0A-D9CA892548B6}"/>
              </a:ext>
            </a:extLst>
          </p:cNvPr>
          <p:cNvGraphicFramePr>
            <a:graphicFrameLocks noGrp="1"/>
          </p:cNvGraphicFramePr>
          <p:nvPr>
            <p:extLst>
              <p:ext uri="{D42A27DB-BD31-4B8C-83A1-F6EECF244321}">
                <p14:modId xmlns:p14="http://schemas.microsoft.com/office/powerpoint/2010/main" val="329098609"/>
              </p:ext>
            </p:extLst>
          </p:nvPr>
        </p:nvGraphicFramePr>
        <p:xfrm>
          <a:off x="609600" y="4293958"/>
          <a:ext cx="10515600" cy="1676400"/>
        </p:xfrm>
        <a:graphic>
          <a:graphicData uri="http://schemas.openxmlformats.org/drawingml/2006/table">
            <a:tbl>
              <a:tblPr>
                <a:tableStyleId>{5C22544A-7EE6-4342-B048-85BDC9FD1C3A}</a:tableStyleId>
              </a:tblPr>
              <a:tblGrid>
                <a:gridCol w="2628900">
                  <a:extLst>
                    <a:ext uri="{9D8B030D-6E8A-4147-A177-3AD203B41FA5}">
                      <a16:colId xmlns:a16="http://schemas.microsoft.com/office/drawing/2014/main" val="852125459"/>
                    </a:ext>
                  </a:extLst>
                </a:gridCol>
                <a:gridCol w="2628900">
                  <a:extLst>
                    <a:ext uri="{9D8B030D-6E8A-4147-A177-3AD203B41FA5}">
                      <a16:colId xmlns:a16="http://schemas.microsoft.com/office/drawing/2014/main" val="81943931"/>
                    </a:ext>
                  </a:extLst>
                </a:gridCol>
                <a:gridCol w="2628900">
                  <a:extLst>
                    <a:ext uri="{9D8B030D-6E8A-4147-A177-3AD203B41FA5}">
                      <a16:colId xmlns:a16="http://schemas.microsoft.com/office/drawing/2014/main" val="1391477641"/>
                    </a:ext>
                  </a:extLst>
                </a:gridCol>
                <a:gridCol w="2628900">
                  <a:extLst>
                    <a:ext uri="{9D8B030D-6E8A-4147-A177-3AD203B41FA5}">
                      <a16:colId xmlns:a16="http://schemas.microsoft.com/office/drawing/2014/main" val="629097305"/>
                    </a:ext>
                  </a:extLst>
                </a:gridCol>
              </a:tblGrid>
              <a:tr h="0">
                <a:tc>
                  <a:txBody>
                    <a:bodyPr/>
                    <a:lstStyle/>
                    <a:p>
                      <a:pPr marL="0" marR="0" algn="l" fontAlgn="t">
                        <a:buNone/>
                      </a:pPr>
                      <a:r>
                        <a:rPr lang="en-IN" sz="1400" spc="0" dirty="0">
                          <a:solidFill>
                            <a:schemeClr val="bg1"/>
                          </a:solidFill>
                          <a:effectLst/>
                          <a:latin typeface="Arial" panose="020B0604020202020204" pitchFamily="34" charset="0"/>
                          <a:cs typeface="Arial" panose="020B0604020202020204" pitchFamily="34" charset="0"/>
                        </a:rPr>
                        <a:t>Endpoint</a:t>
                      </a:r>
                      <a:endParaRPr lang="en-IN" sz="1400" b="1" spc="0" dirty="0">
                        <a:solidFill>
                          <a:schemeClr val="bg1"/>
                        </a:solidFill>
                        <a:effectLst/>
                        <a:latin typeface="Arial" panose="020B0604020202020204" pitchFamily="34" charset="0"/>
                        <a:cs typeface="Arial" panose="020B0604020202020204" pitchFamily="34" charset="0"/>
                      </a:endParaRPr>
                    </a:p>
                  </a:txBody>
                  <a:tcPr marT="60960" marB="60960">
                    <a:solidFill>
                      <a:srgbClr val="00B0F0"/>
                    </a:solidFill>
                  </a:tcPr>
                </a:tc>
                <a:tc>
                  <a:txBody>
                    <a:bodyPr/>
                    <a:lstStyle/>
                    <a:p>
                      <a:pPr marL="0" marR="0" algn="l" fontAlgn="t">
                        <a:buNone/>
                      </a:pPr>
                      <a:r>
                        <a:rPr lang="en-IN" sz="1400" spc="0" dirty="0">
                          <a:solidFill>
                            <a:schemeClr val="bg1"/>
                          </a:solidFill>
                          <a:effectLst/>
                          <a:latin typeface="Arial" panose="020B0604020202020204" pitchFamily="34" charset="0"/>
                          <a:cs typeface="Arial" panose="020B0604020202020204" pitchFamily="34" charset="0"/>
                        </a:rPr>
                        <a:t>Method</a:t>
                      </a:r>
                      <a:endParaRPr lang="en-IN" sz="1400" b="1" spc="0" dirty="0">
                        <a:solidFill>
                          <a:schemeClr val="bg1"/>
                        </a:solidFill>
                        <a:effectLst/>
                        <a:latin typeface="Arial" panose="020B0604020202020204" pitchFamily="34" charset="0"/>
                        <a:cs typeface="Arial" panose="020B0604020202020204" pitchFamily="34" charset="0"/>
                      </a:endParaRPr>
                    </a:p>
                  </a:txBody>
                  <a:tcPr marT="60960" marB="60960">
                    <a:solidFill>
                      <a:srgbClr val="00B0F0"/>
                    </a:solidFill>
                  </a:tcPr>
                </a:tc>
                <a:tc>
                  <a:txBody>
                    <a:bodyPr/>
                    <a:lstStyle/>
                    <a:p>
                      <a:pPr marL="0" marR="0" algn="l" fontAlgn="t">
                        <a:buNone/>
                      </a:pPr>
                      <a:r>
                        <a:rPr lang="en-IN" sz="1400" spc="0">
                          <a:solidFill>
                            <a:schemeClr val="bg1"/>
                          </a:solidFill>
                          <a:effectLst/>
                          <a:latin typeface="Arial" panose="020B0604020202020204" pitchFamily="34" charset="0"/>
                          <a:cs typeface="Arial" panose="020B0604020202020204" pitchFamily="34" charset="0"/>
                        </a:rPr>
                        <a:t>Purpose</a:t>
                      </a:r>
                      <a:endParaRPr lang="en-IN" sz="1400" b="1" spc="0">
                        <a:solidFill>
                          <a:schemeClr val="bg1"/>
                        </a:solidFill>
                        <a:effectLst/>
                        <a:latin typeface="Arial" panose="020B0604020202020204" pitchFamily="34" charset="0"/>
                        <a:cs typeface="Arial" panose="020B0604020202020204" pitchFamily="34" charset="0"/>
                      </a:endParaRPr>
                    </a:p>
                  </a:txBody>
                  <a:tcPr marT="60960" marB="60960">
                    <a:solidFill>
                      <a:srgbClr val="00B0F0"/>
                    </a:solidFill>
                  </a:tcPr>
                </a:tc>
                <a:tc>
                  <a:txBody>
                    <a:bodyPr/>
                    <a:lstStyle/>
                    <a:p>
                      <a:pPr marL="0" marR="0" algn="l" fontAlgn="t">
                        <a:buNone/>
                      </a:pPr>
                      <a:r>
                        <a:rPr lang="en-IN" sz="1400" spc="0" dirty="0">
                          <a:solidFill>
                            <a:schemeClr val="bg1"/>
                          </a:solidFill>
                          <a:effectLst/>
                          <a:latin typeface="Arial" panose="020B0604020202020204" pitchFamily="34" charset="0"/>
                          <a:cs typeface="Arial" panose="020B0604020202020204" pitchFamily="34" charset="0"/>
                        </a:rPr>
                        <a:t>Testing Focus</a:t>
                      </a:r>
                      <a:endParaRPr lang="en-IN" sz="1400" b="1" spc="0" dirty="0">
                        <a:solidFill>
                          <a:schemeClr val="bg1"/>
                        </a:solidFill>
                        <a:effectLst/>
                        <a:latin typeface="Arial" panose="020B0604020202020204" pitchFamily="34" charset="0"/>
                        <a:cs typeface="Arial" panose="020B0604020202020204" pitchFamily="34" charset="0"/>
                      </a:endParaRPr>
                    </a:p>
                  </a:txBody>
                  <a:tcPr marT="60960" marB="60960">
                    <a:solidFill>
                      <a:srgbClr val="00B0F0"/>
                    </a:solidFill>
                  </a:tcPr>
                </a:tc>
                <a:extLst>
                  <a:ext uri="{0D108BD9-81ED-4DB2-BD59-A6C34878D82A}">
                    <a16:rowId xmlns:a16="http://schemas.microsoft.com/office/drawing/2014/main" val="1805580803"/>
                  </a:ext>
                </a:extLst>
              </a:tr>
              <a:tr h="0">
                <a:tc>
                  <a:txBody>
                    <a:bodyPr/>
                    <a:lstStyle/>
                    <a:p>
                      <a:pPr marL="0" marR="0" algn="l" fontAlgn="t">
                        <a:buNone/>
                      </a:pPr>
                      <a:r>
                        <a:rPr lang="en-IN" sz="1400" spc="0">
                          <a:effectLst/>
                          <a:latin typeface="Arial" panose="020B0604020202020204" pitchFamily="34" charset="0"/>
                          <a:cs typeface="Arial" panose="020B0604020202020204" pitchFamily="34" charset="0"/>
                        </a:rPr>
                        <a:t>/login.php</a:t>
                      </a:r>
                      <a:endParaRPr lang="en-IN" sz="1400" spc="0">
                        <a:solidFill>
                          <a:srgbClr val="0D0D0D"/>
                        </a:solidFill>
                        <a:effectLst/>
                        <a:latin typeface="Arial" panose="020B0604020202020204" pitchFamily="34" charset="0"/>
                        <a:cs typeface="Arial" panose="020B0604020202020204" pitchFamily="34" charset="0"/>
                      </a:endParaRPr>
                    </a:p>
                  </a:txBody>
                  <a:tcPr marT="60960" marB="60960"/>
                </a:tc>
                <a:tc>
                  <a:txBody>
                    <a:bodyPr/>
                    <a:lstStyle/>
                    <a:p>
                      <a:pPr marL="0" marR="0" algn="l" fontAlgn="t">
                        <a:buNone/>
                      </a:pPr>
                      <a:r>
                        <a:rPr lang="en-IN" sz="1400" spc="0">
                          <a:effectLst/>
                          <a:latin typeface="Arial" panose="020B0604020202020204" pitchFamily="34" charset="0"/>
                          <a:cs typeface="Arial" panose="020B0604020202020204" pitchFamily="34" charset="0"/>
                        </a:rPr>
                        <a:t>GET/POST</a:t>
                      </a:r>
                      <a:endParaRPr lang="en-IN" sz="1400" spc="0">
                        <a:solidFill>
                          <a:srgbClr val="0D0D0D"/>
                        </a:solidFill>
                        <a:effectLst/>
                        <a:latin typeface="Arial" panose="020B0604020202020204" pitchFamily="34" charset="0"/>
                        <a:cs typeface="Arial" panose="020B0604020202020204" pitchFamily="34" charset="0"/>
                      </a:endParaRPr>
                    </a:p>
                  </a:txBody>
                  <a:tcPr marT="60960" marB="60960"/>
                </a:tc>
                <a:tc>
                  <a:txBody>
                    <a:bodyPr/>
                    <a:lstStyle/>
                    <a:p>
                      <a:pPr marL="0" marR="0" algn="l" fontAlgn="t">
                        <a:buNone/>
                      </a:pPr>
                      <a:r>
                        <a:rPr lang="en-IN" sz="1400" spc="0">
                          <a:effectLst/>
                          <a:latin typeface="Arial" panose="020B0604020202020204" pitchFamily="34" charset="0"/>
                          <a:cs typeface="Arial" panose="020B0604020202020204" pitchFamily="34" charset="0"/>
                        </a:rPr>
                        <a:t>User login</a:t>
                      </a:r>
                      <a:endParaRPr lang="en-IN" sz="1400" spc="0">
                        <a:solidFill>
                          <a:srgbClr val="0D0D0D"/>
                        </a:solidFill>
                        <a:effectLst/>
                        <a:latin typeface="Arial" panose="020B0604020202020204" pitchFamily="34" charset="0"/>
                        <a:cs typeface="Arial" panose="020B0604020202020204" pitchFamily="34" charset="0"/>
                      </a:endParaRPr>
                    </a:p>
                  </a:txBody>
                  <a:tcPr marT="60960" marB="60960"/>
                </a:tc>
                <a:tc>
                  <a:txBody>
                    <a:bodyPr/>
                    <a:lstStyle/>
                    <a:p>
                      <a:pPr marL="0" marR="0" algn="l" fontAlgn="t">
                        <a:buNone/>
                      </a:pPr>
                      <a:r>
                        <a:rPr lang="en-IN" sz="1400" spc="0">
                          <a:effectLst/>
                          <a:latin typeface="Arial" panose="020B0604020202020204" pitchFamily="34" charset="0"/>
                          <a:cs typeface="Arial" panose="020B0604020202020204" pitchFamily="34" charset="0"/>
                        </a:rPr>
                        <a:t>Authentication</a:t>
                      </a:r>
                      <a:endParaRPr lang="en-IN" sz="1400" spc="0">
                        <a:solidFill>
                          <a:srgbClr val="0D0D0D"/>
                        </a:solidFill>
                        <a:effectLst/>
                        <a:latin typeface="Arial" panose="020B0604020202020204" pitchFamily="34" charset="0"/>
                        <a:cs typeface="Arial" panose="020B0604020202020204" pitchFamily="34" charset="0"/>
                      </a:endParaRPr>
                    </a:p>
                  </a:txBody>
                  <a:tcPr marT="60960" marB="60960"/>
                </a:tc>
                <a:extLst>
                  <a:ext uri="{0D108BD9-81ED-4DB2-BD59-A6C34878D82A}">
                    <a16:rowId xmlns:a16="http://schemas.microsoft.com/office/drawing/2014/main" val="652291301"/>
                  </a:ext>
                </a:extLst>
              </a:tr>
              <a:tr h="0">
                <a:tc>
                  <a:txBody>
                    <a:bodyPr/>
                    <a:lstStyle/>
                    <a:p>
                      <a:pPr marL="0" marR="0" algn="l" fontAlgn="t">
                        <a:buNone/>
                      </a:pPr>
                      <a:r>
                        <a:rPr lang="en-IN" sz="1400" spc="0">
                          <a:effectLst/>
                          <a:latin typeface="Arial" panose="020B0604020202020204" pitchFamily="34" charset="0"/>
                          <a:cs typeface="Arial" panose="020B0604020202020204" pitchFamily="34" charset="0"/>
                        </a:rPr>
                        <a:t>/setup.php</a:t>
                      </a:r>
                      <a:endParaRPr lang="en-IN" sz="1400" spc="0">
                        <a:solidFill>
                          <a:srgbClr val="0D0D0D"/>
                        </a:solidFill>
                        <a:effectLst/>
                        <a:latin typeface="Arial" panose="020B0604020202020204" pitchFamily="34" charset="0"/>
                        <a:cs typeface="Arial" panose="020B0604020202020204" pitchFamily="34" charset="0"/>
                      </a:endParaRPr>
                    </a:p>
                  </a:txBody>
                  <a:tcPr marT="60960" marB="60960"/>
                </a:tc>
                <a:tc>
                  <a:txBody>
                    <a:bodyPr/>
                    <a:lstStyle/>
                    <a:p>
                      <a:pPr marL="0" marR="0" algn="l" fontAlgn="t">
                        <a:buNone/>
                      </a:pPr>
                      <a:r>
                        <a:rPr lang="en-IN" sz="1400" spc="0">
                          <a:effectLst/>
                          <a:latin typeface="Arial" panose="020B0604020202020204" pitchFamily="34" charset="0"/>
                          <a:cs typeface="Arial" panose="020B0604020202020204" pitchFamily="34" charset="0"/>
                        </a:rPr>
                        <a:t>GET/POST</a:t>
                      </a:r>
                      <a:endParaRPr lang="en-IN" sz="1400" spc="0">
                        <a:solidFill>
                          <a:srgbClr val="0D0D0D"/>
                        </a:solidFill>
                        <a:effectLst/>
                        <a:latin typeface="Arial" panose="020B0604020202020204" pitchFamily="34" charset="0"/>
                        <a:cs typeface="Arial" panose="020B0604020202020204" pitchFamily="34" charset="0"/>
                      </a:endParaRPr>
                    </a:p>
                  </a:txBody>
                  <a:tcPr marT="60960" marB="60960"/>
                </a:tc>
                <a:tc>
                  <a:txBody>
                    <a:bodyPr/>
                    <a:lstStyle/>
                    <a:p>
                      <a:pPr marL="0" marR="0" algn="l" fontAlgn="t">
                        <a:buNone/>
                      </a:pPr>
                      <a:r>
                        <a:rPr lang="en-IN" sz="1400" spc="0">
                          <a:effectLst/>
                          <a:latin typeface="Arial" panose="020B0604020202020204" pitchFamily="34" charset="0"/>
                          <a:cs typeface="Arial" panose="020B0604020202020204" pitchFamily="34" charset="0"/>
                        </a:rPr>
                        <a:t>Application setup</a:t>
                      </a:r>
                      <a:endParaRPr lang="en-IN" sz="1400" spc="0">
                        <a:solidFill>
                          <a:srgbClr val="0D0D0D"/>
                        </a:solidFill>
                        <a:effectLst/>
                        <a:latin typeface="Arial" panose="020B0604020202020204" pitchFamily="34" charset="0"/>
                        <a:cs typeface="Arial" panose="020B0604020202020204" pitchFamily="34" charset="0"/>
                      </a:endParaRPr>
                    </a:p>
                  </a:txBody>
                  <a:tcPr marT="60960" marB="60960"/>
                </a:tc>
                <a:tc>
                  <a:txBody>
                    <a:bodyPr/>
                    <a:lstStyle/>
                    <a:p>
                      <a:pPr marL="0" marR="0" algn="l" fontAlgn="t">
                        <a:buNone/>
                      </a:pPr>
                      <a:r>
                        <a:rPr lang="en-IN" sz="1400" spc="0">
                          <a:effectLst/>
                          <a:latin typeface="Arial" panose="020B0604020202020204" pitchFamily="34" charset="0"/>
                          <a:cs typeface="Arial" panose="020B0604020202020204" pitchFamily="34" charset="0"/>
                        </a:rPr>
                        <a:t>Access control</a:t>
                      </a:r>
                      <a:endParaRPr lang="en-IN" sz="1400" spc="0">
                        <a:solidFill>
                          <a:srgbClr val="0D0D0D"/>
                        </a:solidFill>
                        <a:effectLst/>
                        <a:latin typeface="Arial" panose="020B0604020202020204" pitchFamily="34" charset="0"/>
                        <a:cs typeface="Arial" panose="020B0604020202020204" pitchFamily="34" charset="0"/>
                      </a:endParaRPr>
                    </a:p>
                  </a:txBody>
                  <a:tcPr marT="60960" marB="60960"/>
                </a:tc>
                <a:extLst>
                  <a:ext uri="{0D108BD9-81ED-4DB2-BD59-A6C34878D82A}">
                    <a16:rowId xmlns:a16="http://schemas.microsoft.com/office/drawing/2014/main" val="1213367259"/>
                  </a:ext>
                </a:extLst>
              </a:tr>
              <a:tr h="0">
                <a:tc>
                  <a:txBody>
                    <a:bodyPr/>
                    <a:lstStyle/>
                    <a:p>
                      <a:pPr marL="0" marR="0" algn="l" fontAlgn="t">
                        <a:buNone/>
                      </a:pPr>
                      <a:r>
                        <a:rPr lang="en-IN" sz="1400" spc="0">
                          <a:effectLst/>
                          <a:latin typeface="Arial" panose="020B0604020202020204" pitchFamily="34" charset="0"/>
                          <a:cs typeface="Arial" panose="020B0604020202020204" pitchFamily="34" charset="0"/>
                        </a:rPr>
                        <a:t>/instructions.php</a:t>
                      </a:r>
                      <a:endParaRPr lang="en-IN" sz="1400" spc="0">
                        <a:solidFill>
                          <a:srgbClr val="0D0D0D"/>
                        </a:solidFill>
                        <a:effectLst/>
                        <a:latin typeface="Arial" panose="020B0604020202020204" pitchFamily="34" charset="0"/>
                        <a:cs typeface="Arial" panose="020B0604020202020204" pitchFamily="34" charset="0"/>
                      </a:endParaRPr>
                    </a:p>
                  </a:txBody>
                  <a:tcPr marT="60960" marB="60960"/>
                </a:tc>
                <a:tc>
                  <a:txBody>
                    <a:bodyPr/>
                    <a:lstStyle/>
                    <a:p>
                      <a:pPr marL="0" marR="0" algn="l" fontAlgn="t">
                        <a:buNone/>
                      </a:pPr>
                      <a:r>
                        <a:rPr lang="en-IN" sz="1400" spc="0">
                          <a:effectLst/>
                          <a:latin typeface="Arial" panose="020B0604020202020204" pitchFamily="34" charset="0"/>
                          <a:cs typeface="Arial" panose="020B0604020202020204" pitchFamily="34" charset="0"/>
                        </a:rPr>
                        <a:t>GET</a:t>
                      </a:r>
                      <a:endParaRPr lang="en-IN" sz="1400" spc="0">
                        <a:solidFill>
                          <a:srgbClr val="0D0D0D"/>
                        </a:solidFill>
                        <a:effectLst/>
                        <a:latin typeface="Arial" panose="020B0604020202020204" pitchFamily="34" charset="0"/>
                        <a:cs typeface="Arial" panose="020B0604020202020204" pitchFamily="34" charset="0"/>
                      </a:endParaRPr>
                    </a:p>
                  </a:txBody>
                  <a:tcPr marT="60960" marB="60960"/>
                </a:tc>
                <a:tc>
                  <a:txBody>
                    <a:bodyPr/>
                    <a:lstStyle/>
                    <a:p>
                      <a:pPr marL="0" marR="0" algn="l" fontAlgn="t">
                        <a:buNone/>
                      </a:pPr>
                      <a:r>
                        <a:rPr lang="en-IN" sz="1400" spc="0">
                          <a:effectLst/>
                          <a:latin typeface="Arial" panose="020B0604020202020204" pitchFamily="34" charset="0"/>
                          <a:cs typeface="Arial" panose="020B0604020202020204" pitchFamily="34" charset="0"/>
                        </a:rPr>
                        <a:t>Instructions page</a:t>
                      </a:r>
                      <a:endParaRPr lang="en-IN" sz="1400" spc="0">
                        <a:solidFill>
                          <a:srgbClr val="0D0D0D"/>
                        </a:solidFill>
                        <a:effectLst/>
                        <a:latin typeface="Arial" panose="020B0604020202020204" pitchFamily="34" charset="0"/>
                        <a:cs typeface="Arial" panose="020B0604020202020204" pitchFamily="34" charset="0"/>
                      </a:endParaRPr>
                    </a:p>
                  </a:txBody>
                  <a:tcPr marT="60960" marB="60960"/>
                </a:tc>
                <a:tc>
                  <a:txBody>
                    <a:bodyPr/>
                    <a:lstStyle/>
                    <a:p>
                      <a:pPr marL="0" marR="0" algn="l" fontAlgn="t">
                        <a:buNone/>
                      </a:pPr>
                      <a:r>
                        <a:rPr lang="en-IN" sz="1400" spc="0">
                          <a:effectLst/>
                          <a:latin typeface="Arial" panose="020B0604020202020204" pitchFamily="34" charset="0"/>
                          <a:cs typeface="Arial" panose="020B0604020202020204" pitchFamily="34" charset="0"/>
                        </a:rPr>
                        <a:t>Access control</a:t>
                      </a:r>
                      <a:endParaRPr lang="en-IN" sz="1400" spc="0">
                        <a:solidFill>
                          <a:srgbClr val="0D0D0D"/>
                        </a:solidFill>
                        <a:effectLst/>
                        <a:latin typeface="Arial" panose="020B0604020202020204" pitchFamily="34" charset="0"/>
                        <a:cs typeface="Arial" panose="020B0604020202020204" pitchFamily="34" charset="0"/>
                      </a:endParaRPr>
                    </a:p>
                  </a:txBody>
                  <a:tcPr marT="60960" marB="60960"/>
                </a:tc>
                <a:extLst>
                  <a:ext uri="{0D108BD9-81ED-4DB2-BD59-A6C34878D82A}">
                    <a16:rowId xmlns:a16="http://schemas.microsoft.com/office/drawing/2014/main" val="2394642604"/>
                  </a:ext>
                </a:extLst>
              </a:tr>
              <a:tr h="0">
                <a:tc>
                  <a:txBody>
                    <a:bodyPr/>
                    <a:lstStyle/>
                    <a:p>
                      <a:pPr marL="0" marR="0" algn="l" fontAlgn="t">
                        <a:buNone/>
                      </a:pPr>
                      <a:r>
                        <a:rPr lang="en-IN" sz="1400" spc="0" dirty="0">
                          <a:effectLst/>
                          <a:latin typeface="Arial" panose="020B0604020202020204" pitchFamily="34" charset="0"/>
                          <a:cs typeface="Arial" panose="020B0604020202020204" pitchFamily="34" charset="0"/>
                        </a:rPr>
                        <a:t>/</a:t>
                      </a:r>
                      <a:r>
                        <a:rPr lang="en-IN" sz="1400" spc="0" dirty="0" err="1">
                          <a:effectLst/>
                          <a:latin typeface="Arial" panose="020B0604020202020204" pitchFamily="34" charset="0"/>
                          <a:cs typeface="Arial" panose="020B0604020202020204" pitchFamily="34" charset="0"/>
                        </a:rPr>
                        <a:t>instructions.php?doc</a:t>
                      </a:r>
                      <a:r>
                        <a:rPr lang="en-IN" sz="1400" spc="0" dirty="0">
                          <a:effectLst/>
                          <a:latin typeface="Arial" panose="020B0604020202020204" pitchFamily="34" charset="0"/>
                          <a:cs typeface="Arial" panose="020B0604020202020204" pitchFamily="34" charset="0"/>
                        </a:rPr>
                        <a:t>=...</a:t>
                      </a:r>
                      <a:endParaRPr lang="en-IN" sz="1400" spc="0" dirty="0">
                        <a:solidFill>
                          <a:srgbClr val="0D0D0D"/>
                        </a:solidFill>
                        <a:effectLst/>
                        <a:latin typeface="Arial" panose="020B0604020202020204" pitchFamily="34" charset="0"/>
                        <a:cs typeface="Arial" panose="020B0604020202020204" pitchFamily="34" charset="0"/>
                      </a:endParaRPr>
                    </a:p>
                  </a:txBody>
                  <a:tcPr marT="60960" marB="60960"/>
                </a:tc>
                <a:tc>
                  <a:txBody>
                    <a:bodyPr/>
                    <a:lstStyle/>
                    <a:p>
                      <a:pPr marL="0" marR="0" algn="l" fontAlgn="t">
                        <a:buNone/>
                      </a:pPr>
                      <a:r>
                        <a:rPr lang="en-IN" sz="1400" spc="0">
                          <a:effectLst/>
                          <a:latin typeface="Arial" panose="020B0604020202020204" pitchFamily="34" charset="0"/>
                          <a:cs typeface="Arial" panose="020B0604020202020204" pitchFamily="34" charset="0"/>
                        </a:rPr>
                        <a:t>GET</a:t>
                      </a:r>
                      <a:endParaRPr lang="en-IN" sz="1400" spc="0">
                        <a:solidFill>
                          <a:srgbClr val="0D0D0D"/>
                        </a:solidFill>
                        <a:effectLst/>
                        <a:latin typeface="Arial" panose="020B0604020202020204" pitchFamily="34" charset="0"/>
                        <a:cs typeface="Arial" panose="020B0604020202020204" pitchFamily="34" charset="0"/>
                      </a:endParaRPr>
                    </a:p>
                  </a:txBody>
                  <a:tcPr marT="60960" marB="60960"/>
                </a:tc>
                <a:tc>
                  <a:txBody>
                    <a:bodyPr/>
                    <a:lstStyle/>
                    <a:p>
                      <a:pPr marL="0" marR="0" algn="l" fontAlgn="t">
                        <a:buNone/>
                      </a:pPr>
                      <a:r>
                        <a:rPr lang="en-IN" sz="1400" spc="0">
                          <a:effectLst/>
                          <a:latin typeface="Arial" panose="020B0604020202020204" pitchFamily="34" charset="0"/>
                          <a:cs typeface="Arial" panose="020B0604020202020204" pitchFamily="34" charset="0"/>
                        </a:rPr>
                        <a:t>Document-related request</a:t>
                      </a:r>
                      <a:endParaRPr lang="en-IN" sz="1400" spc="0">
                        <a:solidFill>
                          <a:srgbClr val="0D0D0D"/>
                        </a:solidFill>
                        <a:effectLst/>
                        <a:latin typeface="Arial" panose="020B0604020202020204" pitchFamily="34" charset="0"/>
                        <a:cs typeface="Arial" panose="020B0604020202020204" pitchFamily="34" charset="0"/>
                      </a:endParaRPr>
                    </a:p>
                  </a:txBody>
                  <a:tcPr marT="60960" marB="60960"/>
                </a:tc>
                <a:tc>
                  <a:txBody>
                    <a:bodyPr/>
                    <a:lstStyle/>
                    <a:p>
                      <a:pPr marL="0" marR="0" algn="l" fontAlgn="t">
                        <a:buNone/>
                      </a:pPr>
                      <a:r>
                        <a:rPr lang="en-IN" sz="1400" spc="0" dirty="0">
                          <a:effectLst/>
                          <a:latin typeface="Arial" panose="020B0604020202020204" pitchFamily="34" charset="0"/>
                          <a:cs typeface="Arial" panose="020B0604020202020204" pitchFamily="34" charset="0"/>
                        </a:rPr>
                        <a:t>Parameter validation</a:t>
                      </a:r>
                      <a:endParaRPr lang="en-IN" sz="1400" spc="0" dirty="0">
                        <a:solidFill>
                          <a:srgbClr val="0D0D0D"/>
                        </a:solidFill>
                        <a:effectLst/>
                        <a:latin typeface="Arial" panose="020B0604020202020204" pitchFamily="34" charset="0"/>
                        <a:cs typeface="Arial" panose="020B0604020202020204" pitchFamily="34" charset="0"/>
                      </a:endParaRPr>
                    </a:p>
                  </a:txBody>
                  <a:tcPr marT="60960" marB="60960"/>
                </a:tc>
                <a:extLst>
                  <a:ext uri="{0D108BD9-81ED-4DB2-BD59-A6C34878D82A}">
                    <a16:rowId xmlns:a16="http://schemas.microsoft.com/office/drawing/2014/main" val="3852028018"/>
                  </a:ext>
                </a:extLst>
              </a:tr>
            </a:tbl>
          </a:graphicData>
        </a:graphic>
      </p:graphicFrame>
      <p:sp>
        <p:nvSpPr>
          <p:cNvPr id="6" name="TextBox 5">
            <a:extLst>
              <a:ext uri="{FF2B5EF4-FFF2-40B4-BE49-F238E27FC236}">
                <a16:creationId xmlns:a16="http://schemas.microsoft.com/office/drawing/2014/main" id="{EB885D58-E7AA-4485-B9AD-A6AC79312D55}"/>
              </a:ext>
            </a:extLst>
          </p:cNvPr>
          <p:cNvSpPr txBox="1"/>
          <p:nvPr/>
        </p:nvSpPr>
        <p:spPr>
          <a:xfrm>
            <a:off x="609600" y="3738706"/>
            <a:ext cx="6097656" cy="338554"/>
          </a:xfrm>
          <a:prstGeom prst="rect">
            <a:avLst/>
          </a:prstGeom>
          <a:noFill/>
        </p:spPr>
        <p:txBody>
          <a:bodyPr wrap="square">
            <a:spAutoFit/>
          </a:bodyPr>
          <a:lstStyle/>
          <a:p>
            <a:pPr marL="0" marR="0" indent="0" algn="l">
              <a:spcBef>
                <a:spcPts val="1800"/>
              </a:spcBef>
              <a:buNone/>
            </a:pPr>
            <a:r>
              <a:rPr lang="en-IN" sz="1600" b="1" i="0" dirty="0">
                <a:solidFill>
                  <a:schemeClr val="bg1"/>
                </a:solidFill>
                <a:effectLst/>
                <a:latin typeface="Arial" panose="020B0604020202020204" pitchFamily="34" charset="0"/>
                <a:cs typeface="Arial" panose="020B0604020202020204" pitchFamily="34" charset="0"/>
              </a:rPr>
              <a:t>Attack-Surface Table</a:t>
            </a:r>
          </a:p>
        </p:txBody>
      </p:sp>
      <p:sp>
        <p:nvSpPr>
          <p:cNvPr id="8" name="TextBox 7">
            <a:extLst>
              <a:ext uri="{FF2B5EF4-FFF2-40B4-BE49-F238E27FC236}">
                <a16:creationId xmlns:a16="http://schemas.microsoft.com/office/drawing/2014/main" id="{A8D7982E-0D34-60C9-D3EB-2516A05F95BB}"/>
              </a:ext>
            </a:extLst>
          </p:cNvPr>
          <p:cNvSpPr txBox="1"/>
          <p:nvPr/>
        </p:nvSpPr>
        <p:spPr>
          <a:xfrm>
            <a:off x="6482797" y="1237378"/>
            <a:ext cx="6251712" cy="2046714"/>
          </a:xfrm>
          <a:prstGeom prst="rect">
            <a:avLst/>
          </a:prstGeom>
          <a:noFill/>
        </p:spPr>
        <p:txBody>
          <a:bodyPr wrap="square">
            <a:spAutoFit/>
          </a:bodyPr>
          <a:lstStyle/>
          <a:p>
            <a:pPr marL="0" marR="0" indent="0" algn="l">
              <a:spcBef>
                <a:spcPts val="1800"/>
              </a:spcBef>
              <a:buNone/>
            </a:pPr>
            <a:r>
              <a:rPr lang="en-IN" sz="1600" b="1" i="0" dirty="0">
                <a:solidFill>
                  <a:schemeClr val="bg1"/>
                </a:solidFill>
                <a:effectLst/>
                <a:latin typeface="Arial" panose="020B0604020202020204" pitchFamily="34" charset="0"/>
                <a:cs typeface="Arial" panose="020B0604020202020204" pitchFamily="34" charset="0"/>
              </a:rPr>
              <a:t>Analysis</a:t>
            </a:r>
          </a:p>
          <a:p>
            <a:pPr marL="0" marR="0" indent="0" algn="l">
              <a:spcBef>
                <a:spcPts val="600"/>
              </a:spcBef>
              <a:buNone/>
            </a:pPr>
            <a:r>
              <a:rPr lang="en-IN" sz="1400" b="0" i="0" dirty="0">
                <a:solidFill>
                  <a:schemeClr val="bg1"/>
                </a:solidFill>
                <a:effectLst/>
                <a:latin typeface="Arial" panose="020B0604020202020204" pitchFamily="34" charset="0"/>
                <a:cs typeface="Arial" panose="020B0604020202020204" pitchFamily="34" charset="0"/>
              </a:rPr>
              <a:t>Burp Suite captures HTTP traffic and displays discovered endpoints in the site map. Login forms and request parameters identify areas for further security testing. The site map may not include pages that were not visited.</a:t>
            </a:r>
          </a:p>
          <a:p>
            <a:pPr marL="0" marR="0" indent="0" algn="l">
              <a:spcBef>
                <a:spcPts val="1800"/>
              </a:spcBef>
              <a:buNone/>
            </a:pPr>
            <a:r>
              <a:rPr lang="en-IN" sz="1600" b="1" i="0" dirty="0">
                <a:solidFill>
                  <a:schemeClr val="bg1"/>
                </a:solidFill>
                <a:effectLst/>
                <a:latin typeface="Arial" panose="020B0604020202020204" pitchFamily="34" charset="0"/>
                <a:cs typeface="Arial" panose="020B0604020202020204" pitchFamily="34" charset="0"/>
              </a:rPr>
              <a:t>Result</a:t>
            </a:r>
          </a:p>
          <a:p>
            <a:pPr marL="0" marR="0" indent="0" algn="l">
              <a:spcBef>
                <a:spcPts val="600"/>
              </a:spcBef>
              <a:buNone/>
            </a:pPr>
            <a:r>
              <a:rPr lang="en-IN" sz="1400" b="0" i="0" dirty="0">
                <a:solidFill>
                  <a:schemeClr val="bg1"/>
                </a:solidFill>
                <a:effectLst/>
                <a:latin typeface="Arial" panose="020B0604020202020204" pitchFamily="34" charset="0"/>
                <a:cs typeface="Arial" panose="020B0604020202020204" pitchFamily="34" charset="0"/>
              </a:rPr>
              <a:t>The application's observed endpoints and HTTP methods were mapped, and potential security testing areas were identified.</a:t>
            </a:r>
          </a:p>
        </p:txBody>
      </p:sp>
    </p:spTree>
    <p:extLst>
      <p:ext uri="{BB962C8B-B14F-4D97-AF65-F5344CB8AC3E}">
        <p14:creationId xmlns:p14="http://schemas.microsoft.com/office/powerpoint/2010/main" val="107296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C5DBECE-F73F-F5EB-BF00-263EB92CDA6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682CDCC-72D4-7D47-5C67-4D834A3ED4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6670" y="5562419"/>
            <a:ext cx="3498574" cy="1295581"/>
          </a:xfrm>
          <a:prstGeom prst="rect">
            <a:avLst/>
          </a:prstGeom>
        </p:spPr>
      </p:pic>
      <p:pic>
        <p:nvPicPr>
          <p:cNvPr id="5" name="Picture 4">
            <a:extLst>
              <a:ext uri="{FF2B5EF4-FFF2-40B4-BE49-F238E27FC236}">
                <a16:creationId xmlns:a16="http://schemas.microsoft.com/office/drawing/2014/main" id="{E4FC3AE8-8BE6-5167-B155-E7CCE3565E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35757" y="0"/>
            <a:ext cx="7156243" cy="2973970"/>
          </a:xfrm>
          <a:prstGeom prst="rect">
            <a:avLst/>
          </a:prstGeom>
        </p:spPr>
      </p:pic>
      <p:pic>
        <p:nvPicPr>
          <p:cNvPr id="7" name="Picture 6">
            <a:extLst>
              <a:ext uri="{FF2B5EF4-FFF2-40B4-BE49-F238E27FC236}">
                <a16:creationId xmlns:a16="http://schemas.microsoft.com/office/drawing/2014/main" id="{68DD95D3-DE1F-53D6-B50F-3F37AA5BC0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17656" y="2973970"/>
            <a:ext cx="2868316" cy="3884030"/>
          </a:xfrm>
          <a:prstGeom prst="rect">
            <a:avLst/>
          </a:prstGeom>
        </p:spPr>
      </p:pic>
      <p:pic>
        <p:nvPicPr>
          <p:cNvPr id="9" name="Picture 8">
            <a:extLst>
              <a:ext uri="{FF2B5EF4-FFF2-40B4-BE49-F238E27FC236}">
                <a16:creationId xmlns:a16="http://schemas.microsoft.com/office/drawing/2014/main" id="{DF47D9AB-D063-1F13-A76D-495010B8AEEF}"/>
              </a:ext>
            </a:extLst>
          </p:cNvPr>
          <p:cNvPicPr>
            <a:picLocks noChangeAspect="1"/>
          </p:cNvPicPr>
          <p:nvPr/>
        </p:nvPicPr>
        <p:blipFill>
          <a:blip r:embed="rId6">
            <a:extLst>
              <a:ext uri="{28A0092B-C50C-407E-A947-70E740481C1C}">
                <a14:useLocalDpi xmlns:a14="http://schemas.microsoft.com/office/drawing/2010/main" val="0"/>
              </a:ext>
            </a:extLst>
          </a:blip>
          <a:srcRect t="28565"/>
          <a:stretch>
            <a:fillRect/>
          </a:stretch>
        </p:blipFill>
        <p:spPr>
          <a:xfrm>
            <a:off x="8428383" y="2973970"/>
            <a:ext cx="3763617" cy="3860777"/>
          </a:xfrm>
          <a:prstGeom prst="rect">
            <a:avLst/>
          </a:prstGeom>
        </p:spPr>
      </p:pic>
      <p:sp>
        <p:nvSpPr>
          <p:cNvPr id="11" name="TextBox 10">
            <a:extLst>
              <a:ext uri="{FF2B5EF4-FFF2-40B4-BE49-F238E27FC236}">
                <a16:creationId xmlns:a16="http://schemas.microsoft.com/office/drawing/2014/main" id="{32B679E9-E436-3399-85AD-0BA02C8D5D35}"/>
              </a:ext>
            </a:extLst>
          </p:cNvPr>
          <p:cNvSpPr txBox="1"/>
          <p:nvPr/>
        </p:nvSpPr>
        <p:spPr>
          <a:xfrm>
            <a:off x="444776" y="1579747"/>
            <a:ext cx="3789294" cy="2954655"/>
          </a:xfrm>
          <a:prstGeom prst="rect">
            <a:avLst/>
          </a:prstGeom>
          <a:noFill/>
        </p:spPr>
        <p:txBody>
          <a:bodyPr wrap="square">
            <a:spAutoFit/>
          </a:bodyPr>
          <a:lstStyle/>
          <a:p>
            <a:pPr lvl="0"/>
            <a:r>
              <a:rPr lang="en-IN" sz="1600" dirty="0">
                <a:solidFill>
                  <a:schemeClr val="bg1"/>
                </a:solidFill>
                <a:latin typeface="Arial" panose="020B0604020202020204" pitchFamily="34" charset="0"/>
                <a:cs typeface="Arial" panose="020B0604020202020204" pitchFamily="34" charset="0"/>
              </a:rPr>
              <a:t>SQL Injection</a:t>
            </a:r>
          </a:p>
          <a:p>
            <a:pPr lvl="0"/>
            <a:endParaRPr lang="en-IN" sz="1100" dirty="0">
              <a:solidFill>
                <a:schemeClr val="bg1"/>
              </a:solidFill>
              <a:latin typeface="Arial" panose="020B0604020202020204" pitchFamily="34" charset="0"/>
              <a:cs typeface="Arial" panose="020B0604020202020204" pitchFamily="34" charset="0"/>
            </a:endParaRP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Open DVWA SQL Injection page.</a:t>
            </a: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Capture the GET request using Burp Suite.</a:t>
            </a: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Save the request as sqlmap.txt.</a:t>
            </a: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Test the request using </a:t>
            </a:r>
            <a:r>
              <a:rPr lang="en-IN" sz="1400" dirty="0" err="1">
                <a:solidFill>
                  <a:schemeClr val="bg1"/>
                </a:solidFill>
                <a:latin typeface="Arial" panose="020B0604020202020204" pitchFamily="34" charset="0"/>
                <a:cs typeface="Arial" panose="020B0604020202020204" pitchFamily="34" charset="0"/>
              </a:rPr>
              <a:t>sqlmap</a:t>
            </a:r>
            <a:r>
              <a:rPr lang="en-IN" sz="1400" dirty="0">
                <a:solidFill>
                  <a:schemeClr val="bg1"/>
                </a:solidFill>
                <a:latin typeface="Arial" panose="020B0604020202020204" pitchFamily="34" charset="0"/>
                <a:cs typeface="Arial" panose="020B0604020202020204" pitchFamily="34" charset="0"/>
              </a:rPr>
              <a:t>.</a:t>
            </a: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Identify the MySQL database.</a:t>
            </a: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Enumerate tables in the </a:t>
            </a:r>
            <a:r>
              <a:rPr lang="en-IN" sz="1400" dirty="0" err="1">
                <a:solidFill>
                  <a:schemeClr val="bg1"/>
                </a:solidFill>
                <a:latin typeface="Arial" panose="020B0604020202020204" pitchFamily="34" charset="0"/>
                <a:cs typeface="Arial" panose="020B0604020202020204" pitchFamily="34" charset="0"/>
              </a:rPr>
              <a:t>dvwa</a:t>
            </a:r>
            <a:r>
              <a:rPr lang="en-IN" sz="1400" dirty="0">
                <a:solidFill>
                  <a:schemeClr val="bg1"/>
                </a:solidFill>
                <a:latin typeface="Arial" panose="020B0604020202020204" pitchFamily="34" charset="0"/>
                <a:cs typeface="Arial" panose="020B0604020202020204" pitchFamily="34" charset="0"/>
              </a:rPr>
              <a:t> database.</a:t>
            </a: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Tables found: guestbook and users.</a:t>
            </a: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Dump the users table in the authorized lab.</a:t>
            </a: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Review the output files.</a:t>
            </a:r>
          </a:p>
        </p:txBody>
      </p:sp>
      <p:sp>
        <p:nvSpPr>
          <p:cNvPr id="13" name="TextBox 12">
            <a:extLst>
              <a:ext uri="{FF2B5EF4-FFF2-40B4-BE49-F238E27FC236}">
                <a16:creationId xmlns:a16="http://schemas.microsoft.com/office/drawing/2014/main" id="{6094A6EA-053D-8FEC-FE3E-C8A80E9A9A39}"/>
              </a:ext>
            </a:extLst>
          </p:cNvPr>
          <p:cNvSpPr txBox="1"/>
          <p:nvPr/>
        </p:nvSpPr>
        <p:spPr>
          <a:xfrm>
            <a:off x="524288" y="412331"/>
            <a:ext cx="4296190" cy="830997"/>
          </a:xfrm>
          <a:prstGeom prst="rect">
            <a:avLst/>
          </a:prstGeom>
          <a:noFill/>
        </p:spPr>
        <p:txBody>
          <a:bodyPr wrap="square">
            <a:spAutoFit/>
          </a:bodyPr>
          <a:lstStyle/>
          <a:p>
            <a:r>
              <a:rPr lang="en-IN" sz="1600" dirty="0">
                <a:solidFill>
                  <a:schemeClr val="bg1"/>
                </a:solidFill>
                <a:latin typeface="Arial" panose="020B0604020202020204" pitchFamily="34" charset="0"/>
                <a:cs typeface="Arial" panose="020B0604020202020204" pitchFamily="34" charset="0"/>
              </a:rPr>
              <a:t>Task 24: Vulnerability Testing (Manual + Burp Tools)Use Burp tools like Repeater &amp; Intruder:</a:t>
            </a:r>
          </a:p>
        </p:txBody>
      </p:sp>
    </p:spTree>
    <p:extLst>
      <p:ext uri="{BB962C8B-B14F-4D97-AF65-F5344CB8AC3E}">
        <p14:creationId xmlns:p14="http://schemas.microsoft.com/office/powerpoint/2010/main" val="2782764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D44F1C7-7425-5B7C-B29D-3AB3BEB8C20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C975366-1CC4-BCF4-6B75-35B5D34E7E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47943" y="3429000"/>
            <a:ext cx="4544059" cy="3439005"/>
          </a:xfrm>
          <a:prstGeom prst="rect">
            <a:avLst/>
          </a:prstGeom>
        </p:spPr>
      </p:pic>
      <p:pic>
        <p:nvPicPr>
          <p:cNvPr id="5" name="Picture 4">
            <a:extLst>
              <a:ext uri="{FF2B5EF4-FFF2-40B4-BE49-F238E27FC236}">
                <a16:creationId xmlns:a16="http://schemas.microsoft.com/office/drawing/2014/main" id="{0DE9C437-0CDF-6894-A897-189B32C865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80786"/>
            <a:ext cx="4263887" cy="4021043"/>
          </a:xfrm>
          <a:prstGeom prst="rect">
            <a:avLst/>
          </a:prstGeom>
        </p:spPr>
      </p:pic>
      <p:pic>
        <p:nvPicPr>
          <p:cNvPr id="7" name="Picture 6">
            <a:extLst>
              <a:ext uri="{FF2B5EF4-FFF2-40B4-BE49-F238E27FC236}">
                <a16:creationId xmlns:a16="http://schemas.microsoft.com/office/drawing/2014/main" id="{E06AE8E2-6423-9D25-248D-20BF0D4746C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845809"/>
            <a:ext cx="4544059" cy="3021965"/>
          </a:xfrm>
          <a:prstGeom prst="rect">
            <a:avLst/>
          </a:prstGeom>
        </p:spPr>
      </p:pic>
      <p:pic>
        <p:nvPicPr>
          <p:cNvPr id="9" name="Picture 8">
            <a:extLst>
              <a:ext uri="{FF2B5EF4-FFF2-40B4-BE49-F238E27FC236}">
                <a16:creationId xmlns:a16="http://schemas.microsoft.com/office/drawing/2014/main" id="{003D85B7-E43D-C2D9-71D3-76826885514A}"/>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a:off x="4984492" y="0"/>
            <a:ext cx="7192379" cy="2678013"/>
          </a:xfrm>
          <a:prstGeom prst="rect">
            <a:avLst/>
          </a:prstGeom>
        </p:spPr>
      </p:pic>
    </p:spTree>
    <p:extLst>
      <p:ext uri="{BB962C8B-B14F-4D97-AF65-F5344CB8AC3E}">
        <p14:creationId xmlns:p14="http://schemas.microsoft.com/office/powerpoint/2010/main" val="449170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1D0FCA1-1290-9F91-AA19-6D90E792E36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5D965DB-E600-0861-EEB8-94F859C7B4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4964" y="5371893"/>
            <a:ext cx="4344006" cy="1486107"/>
          </a:xfrm>
          <a:prstGeom prst="rect">
            <a:avLst/>
          </a:prstGeom>
        </p:spPr>
      </p:pic>
      <p:pic>
        <p:nvPicPr>
          <p:cNvPr id="5" name="Picture 4">
            <a:extLst>
              <a:ext uri="{FF2B5EF4-FFF2-40B4-BE49-F238E27FC236}">
                <a16:creationId xmlns:a16="http://schemas.microsoft.com/office/drawing/2014/main" id="{6B9BA72A-78C2-A618-3571-80B0AA2EE5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8687" y="99391"/>
            <a:ext cx="6646277" cy="6858000"/>
          </a:xfrm>
          <a:prstGeom prst="rect">
            <a:avLst/>
          </a:prstGeom>
        </p:spPr>
      </p:pic>
      <p:sp>
        <p:nvSpPr>
          <p:cNvPr id="7" name="TextBox 6">
            <a:extLst>
              <a:ext uri="{FF2B5EF4-FFF2-40B4-BE49-F238E27FC236}">
                <a16:creationId xmlns:a16="http://schemas.microsoft.com/office/drawing/2014/main" id="{8873D391-F5D9-9DE7-17BC-DCED33F61697}"/>
              </a:ext>
            </a:extLst>
          </p:cNvPr>
          <p:cNvSpPr txBox="1"/>
          <p:nvPr/>
        </p:nvSpPr>
        <p:spPr>
          <a:xfrm>
            <a:off x="7282898" y="878820"/>
            <a:ext cx="6097656" cy="369332"/>
          </a:xfrm>
          <a:prstGeom prst="rect">
            <a:avLst/>
          </a:prstGeom>
          <a:noFill/>
        </p:spPr>
        <p:txBody>
          <a:bodyPr wrap="square">
            <a:spAutoFit/>
          </a:bodyPr>
          <a:lstStyle/>
          <a:p>
            <a:r>
              <a:rPr lang="en-IN" dirty="0">
                <a:solidFill>
                  <a:schemeClr val="bg1"/>
                </a:solidFill>
                <a:latin typeface="Arial" panose="020B0604020202020204" pitchFamily="34" charset="0"/>
                <a:cs typeface="Arial" panose="020B0604020202020204" pitchFamily="34" charset="0"/>
              </a:rPr>
              <a:t>XSS (Cross-Site Scripting)</a:t>
            </a:r>
          </a:p>
        </p:txBody>
      </p:sp>
      <p:sp>
        <p:nvSpPr>
          <p:cNvPr id="9" name="TextBox 8">
            <a:extLst>
              <a:ext uri="{FF2B5EF4-FFF2-40B4-BE49-F238E27FC236}">
                <a16:creationId xmlns:a16="http://schemas.microsoft.com/office/drawing/2014/main" id="{48161B9D-6E94-8EE0-1A64-80D7A647B9AF}"/>
              </a:ext>
            </a:extLst>
          </p:cNvPr>
          <p:cNvSpPr txBox="1"/>
          <p:nvPr/>
        </p:nvSpPr>
        <p:spPr>
          <a:xfrm>
            <a:off x="7409622" y="1852855"/>
            <a:ext cx="3940865" cy="2637710"/>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IN" sz="1400" dirty="0">
                <a:solidFill>
                  <a:schemeClr val="bg1"/>
                </a:solidFill>
                <a:latin typeface="Arial" panose="020B0604020202020204" pitchFamily="34" charset="0"/>
                <a:cs typeface="Arial" panose="020B0604020202020204" pitchFamily="34" charset="0"/>
              </a:rPr>
              <a:t>Find a search box or another input field.</a:t>
            </a:r>
          </a:p>
          <a:p>
            <a:pPr marL="285750" lvl="0" indent="-285750">
              <a:lnSpc>
                <a:spcPct val="150000"/>
              </a:lnSpc>
              <a:buFont typeface="Arial" panose="020B0604020202020204" pitchFamily="34" charset="0"/>
              <a:buChar char="•"/>
            </a:pPr>
            <a:r>
              <a:rPr lang="en-IN" sz="1400" dirty="0">
                <a:solidFill>
                  <a:schemeClr val="bg1"/>
                </a:solidFill>
                <a:latin typeface="Arial" panose="020B0604020202020204" pitchFamily="34" charset="0"/>
                <a:cs typeface="Arial" panose="020B0604020202020204" pitchFamily="34" charset="0"/>
              </a:rPr>
              <a:t>In your authorized lab, test a harmless proof-of-concept payload such as &lt;script&gt;alert(1)&lt;/script&gt;.</a:t>
            </a:r>
          </a:p>
          <a:p>
            <a:pPr marL="285750" lvl="0" indent="-285750">
              <a:lnSpc>
                <a:spcPct val="150000"/>
              </a:lnSpc>
              <a:buFont typeface="Arial" panose="020B0604020202020204" pitchFamily="34" charset="0"/>
              <a:buChar char="•"/>
            </a:pPr>
            <a:r>
              <a:rPr lang="en-IN" sz="1400" dirty="0">
                <a:solidFill>
                  <a:schemeClr val="bg1"/>
                </a:solidFill>
                <a:latin typeface="Arial" panose="020B0604020202020204" pitchFamily="34" charset="0"/>
                <a:cs typeface="Arial" panose="020B0604020202020204" pitchFamily="34" charset="0"/>
              </a:rPr>
              <a:t>Observe whether the input is safely encoded or executed by the browser.</a:t>
            </a:r>
          </a:p>
          <a:p>
            <a:pPr marL="285750" lvl="0" indent="-285750">
              <a:lnSpc>
                <a:spcPct val="150000"/>
              </a:lnSpc>
              <a:buFont typeface="Arial" panose="020B0604020202020204" pitchFamily="34" charset="0"/>
              <a:buChar char="•"/>
            </a:pPr>
            <a:r>
              <a:rPr lang="en-IN" sz="1400" dirty="0">
                <a:solidFill>
                  <a:schemeClr val="bg1"/>
                </a:solidFill>
                <a:latin typeface="Arial" panose="020B0604020202020204" pitchFamily="34" charset="0"/>
                <a:cs typeface="Arial" panose="020B0604020202020204" pitchFamily="34" charset="0"/>
              </a:rPr>
              <a:t>Determine whether the issue is reflected, stored, or DOM-based XSS.</a:t>
            </a:r>
          </a:p>
        </p:txBody>
      </p:sp>
    </p:spTree>
    <p:extLst>
      <p:ext uri="{BB962C8B-B14F-4D97-AF65-F5344CB8AC3E}">
        <p14:creationId xmlns:p14="http://schemas.microsoft.com/office/powerpoint/2010/main" val="1060079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A9290F0-8D3B-C719-5EF5-616DE82521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6D953F3-C76A-AA84-D127-FD9F002B0F3E}"/>
              </a:ext>
            </a:extLst>
          </p:cNvPr>
          <p:cNvSpPr txBox="1"/>
          <p:nvPr/>
        </p:nvSpPr>
        <p:spPr>
          <a:xfrm>
            <a:off x="752475" y="472559"/>
            <a:ext cx="6096000" cy="369332"/>
          </a:xfrm>
          <a:prstGeom prst="rect">
            <a:avLst/>
          </a:prstGeom>
          <a:noFill/>
        </p:spPr>
        <p:txBody>
          <a:bodyPr wrap="square">
            <a:spAutoFit/>
          </a:bodyPr>
          <a:lstStyle/>
          <a:p>
            <a:r>
              <a:rPr lang="en-IN" dirty="0">
                <a:solidFill>
                  <a:schemeClr val="bg1"/>
                </a:solidFill>
                <a:latin typeface="Arial" panose="020B0604020202020204" pitchFamily="34" charset="0"/>
                <a:cs typeface="Arial" panose="020B0604020202020204" pitchFamily="34" charset="0"/>
              </a:rPr>
              <a:t>Task 25: Directory &amp; Endpoint DiscoveryUse:</a:t>
            </a:r>
          </a:p>
        </p:txBody>
      </p:sp>
      <p:pic>
        <p:nvPicPr>
          <p:cNvPr id="5" name="Picture 4">
            <a:extLst>
              <a:ext uri="{FF2B5EF4-FFF2-40B4-BE49-F238E27FC236}">
                <a16:creationId xmlns:a16="http://schemas.microsoft.com/office/drawing/2014/main" id="{13C5176D-C6AD-DF3B-BEC3-615E0CE3DB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429000"/>
            <a:ext cx="2583938" cy="3229922"/>
          </a:xfrm>
          <a:prstGeom prst="rect">
            <a:avLst/>
          </a:prstGeom>
        </p:spPr>
      </p:pic>
      <p:pic>
        <p:nvPicPr>
          <p:cNvPr id="7" name="Picture 6">
            <a:extLst>
              <a:ext uri="{FF2B5EF4-FFF2-40B4-BE49-F238E27FC236}">
                <a16:creationId xmlns:a16="http://schemas.microsoft.com/office/drawing/2014/main" id="{19C3743B-8D74-3D24-BEF3-D3FA51FC90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47351" y="3629025"/>
            <a:ext cx="4840217" cy="2915596"/>
          </a:xfrm>
          <a:prstGeom prst="rect">
            <a:avLst/>
          </a:prstGeom>
        </p:spPr>
      </p:pic>
      <p:sp>
        <p:nvSpPr>
          <p:cNvPr id="9" name="TextBox 8">
            <a:extLst>
              <a:ext uri="{FF2B5EF4-FFF2-40B4-BE49-F238E27FC236}">
                <a16:creationId xmlns:a16="http://schemas.microsoft.com/office/drawing/2014/main" id="{FD709ACC-0A12-D3A4-4B97-7BBDFD53474C}"/>
              </a:ext>
            </a:extLst>
          </p:cNvPr>
          <p:cNvSpPr txBox="1"/>
          <p:nvPr/>
        </p:nvSpPr>
        <p:spPr>
          <a:xfrm>
            <a:off x="752475" y="811113"/>
            <a:ext cx="5105400" cy="2446824"/>
          </a:xfrm>
          <a:prstGeom prst="rect">
            <a:avLst/>
          </a:prstGeom>
          <a:noFill/>
        </p:spPr>
        <p:txBody>
          <a:bodyPr wrap="square">
            <a:spAutoFit/>
          </a:bodyPr>
          <a:lstStyle/>
          <a:p>
            <a:pPr marL="0" marR="0" indent="0" algn="l">
              <a:spcBef>
                <a:spcPts val="1200"/>
              </a:spcBef>
              <a:buNone/>
            </a:pPr>
            <a:r>
              <a:rPr lang="en-IN" sz="1200" b="1" i="0" dirty="0">
                <a:solidFill>
                  <a:schemeClr val="bg1"/>
                </a:solidFill>
                <a:effectLst/>
                <a:latin typeface="Arial" panose="020B0604020202020204" pitchFamily="34" charset="0"/>
                <a:cs typeface="Arial" panose="020B0604020202020204" pitchFamily="34" charset="0"/>
              </a:rPr>
              <a:t>1. Scan using DIRB</a:t>
            </a:r>
          </a:p>
          <a:p>
            <a:pPr marL="0" marR="0" indent="0" algn="l">
              <a:spcBef>
                <a:spcPts val="600"/>
              </a:spcBef>
              <a:buNone/>
            </a:pPr>
            <a:r>
              <a:rPr lang="en-IN" sz="1200" b="0" i="0" dirty="0">
                <a:solidFill>
                  <a:schemeClr val="bg1"/>
                </a:solidFill>
                <a:effectLst/>
                <a:latin typeface="Arial" panose="020B0604020202020204" pitchFamily="34" charset="0"/>
                <a:cs typeface="Arial" panose="020B0604020202020204" pitchFamily="34" charset="0"/>
              </a:rPr>
              <a:t>Open the Kali Linux terminal and run:</a:t>
            </a:r>
          </a:p>
          <a:p>
            <a:pPr indent="0" algn="l">
              <a:buNone/>
            </a:pPr>
            <a:r>
              <a:rPr lang="en-IN" sz="1200" b="0" i="0" dirty="0">
                <a:solidFill>
                  <a:schemeClr val="bg1"/>
                </a:solidFill>
                <a:effectLst/>
                <a:latin typeface="Arial" panose="020B0604020202020204" pitchFamily="34" charset="0"/>
                <a:cs typeface="Arial" panose="020B0604020202020204" pitchFamily="34" charset="0"/>
              </a:rPr>
              <a:t>bash</a:t>
            </a:r>
          </a:p>
          <a:p>
            <a:pPr indent="0" algn="l">
              <a:buNone/>
            </a:pPr>
            <a:r>
              <a:rPr lang="en-IN" sz="1200" b="0" i="0" dirty="0" err="1">
                <a:solidFill>
                  <a:schemeClr val="bg1"/>
                </a:solidFill>
                <a:effectLst/>
                <a:latin typeface="Arial" panose="020B0604020202020204" pitchFamily="34" charset="0"/>
                <a:cs typeface="Arial" panose="020B0604020202020204" pitchFamily="34" charset="0"/>
              </a:rPr>
              <a:t>dirb</a:t>
            </a:r>
            <a:r>
              <a:rPr lang="en-IN" sz="1200" b="0" i="0" dirty="0">
                <a:solidFill>
                  <a:schemeClr val="bg1"/>
                </a:solidFill>
                <a:effectLst/>
                <a:latin typeface="Arial" panose="020B0604020202020204" pitchFamily="34" charset="0"/>
                <a:cs typeface="Arial" panose="020B0604020202020204" pitchFamily="34" charset="0"/>
              </a:rPr>
              <a:t> http://127.0.0.1:42001/</a:t>
            </a:r>
          </a:p>
          <a:p>
            <a:pPr marL="0" marR="0" lvl="0" indent="-342900" algn="l">
              <a:spcBef>
                <a:spcPts val="1200"/>
              </a:spcBef>
              <a:buFont typeface="Arial" panose="020B0604020202020204" pitchFamily="34" charset="0"/>
              <a:buChar char="•"/>
            </a:pPr>
            <a:r>
              <a:rPr lang="en-IN" sz="1200" b="0" i="0" dirty="0" err="1">
                <a:solidFill>
                  <a:schemeClr val="bg1"/>
                </a:solidFill>
                <a:effectLst/>
                <a:latin typeface="Arial" panose="020B0604020202020204" pitchFamily="34" charset="0"/>
                <a:cs typeface="Arial" panose="020B0604020202020204" pitchFamily="34" charset="0"/>
              </a:rPr>
              <a:t>dirb</a:t>
            </a:r>
            <a:r>
              <a:rPr lang="en-IN" sz="1200" b="0" i="0" dirty="0">
                <a:solidFill>
                  <a:schemeClr val="bg1"/>
                </a:solidFill>
                <a:effectLst/>
                <a:latin typeface="Arial" panose="020B0604020202020204" pitchFamily="34" charset="0"/>
                <a:cs typeface="Arial" panose="020B0604020202020204" pitchFamily="34" charset="0"/>
              </a:rPr>
              <a:t> starts the directory scan.</a:t>
            </a:r>
          </a:p>
          <a:p>
            <a:pPr marL="0" marR="0" lvl="0" indent="-342900" algn="l">
              <a:spcBef>
                <a:spcPts val="1200"/>
              </a:spcBef>
              <a:buFont typeface="Arial" panose="020B0604020202020204" pitchFamily="34" charset="0"/>
              <a:buChar char="•"/>
            </a:pPr>
            <a:r>
              <a:rPr lang="en-IN" sz="1200" b="0" i="0" dirty="0">
                <a:solidFill>
                  <a:schemeClr val="bg1"/>
                </a:solidFill>
                <a:effectLst/>
                <a:latin typeface="Arial" panose="020B0604020202020204" pitchFamily="34" charset="0"/>
                <a:cs typeface="Arial" panose="020B0604020202020204" pitchFamily="34" charset="0"/>
              </a:rPr>
              <a:t>http://127.0.0.1:42001/ is the target URL.</a:t>
            </a:r>
          </a:p>
          <a:p>
            <a:pPr marL="0" marR="0" lvl="0" indent="-342900" algn="l">
              <a:spcBef>
                <a:spcPts val="1200"/>
              </a:spcBef>
              <a:buFont typeface="Arial" panose="020B0604020202020204" pitchFamily="34" charset="0"/>
              <a:buChar char="•"/>
            </a:pPr>
            <a:r>
              <a:rPr lang="en-IN" sz="1200" b="0" i="0" dirty="0">
                <a:solidFill>
                  <a:schemeClr val="bg1"/>
                </a:solidFill>
                <a:effectLst/>
                <a:latin typeface="Arial" panose="020B0604020202020204" pitchFamily="34" charset="0"/>
                <a:cs typeface="Arial" panose="020B0604020202020204" pitchFamily="34" charset="0"/>
              </a:rPr>
              <a:t>DIRB uses its default wordlist to find hidden directories and files.</a:t>
            </a:r>
          </a:p>
          <a:p>
            <a:pPr marL="0" marR="0" indent="0" algn="l">
              <a:spcBef>
                <a:spcPts val="1200"/>
              </a:spcBef>
              <a:buNone/>
            </a:pPr>
            <a:r>
              <a:rPr lang="en-IN" sz="1200" b="1" i="0" dirty="0">
                <a:solidFill>
                  <a:schemeClr val="bg1"/>
                </a:solidFill>
                <a:effectLst/>
                <a:latin typeface="Arial" panose="020B0604020202020204" pitchFamily="34" charset="0"/>
                <a:cs typeface="Arial" panose="020B0604020202020204" pitchFamily="34" charset="0"/>
              </a:rPr>
              <a:t>Results found:</a:t>
            </a:r>
            <a:r>
              <a:rPr lang="en-IN" sz="1200" b="0" i="0" dirty="0">
                <a:solidFill>
                  <a:schemeClr val="bg1"/>
                </a:solidFill>
                <a:effectLst/>
                <a:latin typeface="Arial" panose="020B0604020202020204" pitchFamily="34" charset="0"/>
                <a:cs typeface="Arial" panose="020B0604020202020204" pitchFamily="34" charset="0"/>
              </a:rPr>
              <a:t> config/, database/, docs/, external/, </a:t>
            </a:r>
            <a:r>
              <a:rPr lang="en-IN" sz="1200" b="0" i="0" dirty="0" err="1">
                <a:solidFill>
                  <a:schemeClr val="bg1"/>
                </a:solidFill>
                <a:effectLst/>
                <a:latin typeface="Arial" panose="020B0604020202020204" pitchFamily="34" charset="0"/>
                <a:cs typeface="Arial" panose="020B0604020202020204" pitchFamily="34" charset="0"/>
              </a:rPr>
              <a:t>index.php</a:t>
            </a:r>
            <a:r>
              <a:rPr lang="en-IN" sz="1200" b="0" i="0" dirty="0">
                <a:solidFill>
                  <a:schemeClr val="bg1"/>
                </a:solidFill>
                <a:effectLst/>
                <a:latin typeface="Arial" panose="020B0604020202020204" pitchFamily="34" charset="0"/>
                <a:cs typeface="Arial" panose="020B0604020202020204" pitchFamily="34" charset="0"/>
              </a:rPr>
              <a:t>, php.ini, </a:t>
            </a:r>
            <a:r>
              <a:rPr lang="en-IN" sz="1200" b="0" i="0" dirty="0" err="1">
                <a:solidFill>
                  <a:schemeClr val="bg1"/>
                </a:solidFill>
                <a:effectLst/>
                <a:latin typeface="Arial" panose="020B0604020202020204" pitchFamily="34" charset="0"/>
                <a:cs typeface="Arial" panose="020B0604020202020204" pitchFamily="34" charset="0"/>
              </a:rPr>
              <a:t>phpinfo.php</a:t>
            </a:r>
            <a:r>
              <a:rPr lang="en-IN" sz="1200" b="0" i="0" dirty="0">
                <a:solidFill>
                  <a:schemeClr val="bg1"/>
                </a:solidFill>
                <a:effectLst/>
                <a:latin typeface="Arial" panose="020B0604020202020204" pitchFamily="34" charset="0"/>
                <a:cs typeface="Arial" panose="020B0604020202020204" pitchFamily="34" charset="0"/>
              </a:rPr>
              <a:t>, and robots.txt.</a:t>
            </a:r>
          </a:p>
        </p:txBody>
      </p:sp>
      <p:sp>
        <p:nvSpPr>
          <p:cNvPr id="11" name="TextBox 10">
            <a:extLst>
              <a:ext uri="{FF2B5EF4-FFF2-40B4-BE49-F238E27FC236}">
                <a16:creationId xmlns:a16="http://schemas.microsoft.com/office/drawing/2014/main" id="{96F87D50-1629-17D7-2051-045E224676EC}"/>
              </a:ext>
            </a:extLst>
          </p:cNvPr>
          <p:cNvSpPr txBox="1"/>
          <p:nvPr/>
        </p:nvSpPr>
        <p:spPr>
          <a:xfrm>
            <a:off x="6096000" y="903446"/>
            <a:ext cx="6096000" cy="2262158"/>
          </a:xfrm>
          <a:prstGeom prst="rect">
            <a:avLst/>
          </a:prstGeom>
          <a:noFill/>
        </p:spPr>
        <p:txBody>
          <a:bodyPr wrap="square">
            <a:spAutoFit/>
          </a:bodyPr>
          <a:lstStyle/>
          <a:p>
            <a:pPr marL="0" marR="0" indent="0" algn="l">
              <a:spcBef>
                <a:spcPts val="1800"/>
              </a:spcBef>
              <a:buNone/>
            </a:pPr>
            <a:r>
              <a:rPr lang="en-IN" sz="1200" b="1" i="0" dirty="0">
                <a:solidFill>
                  <a:schemeClr val="bg1"/>
                </a:solidFill>
                <a:effectLst/>
                <a:latin typeface="Arial" panose="020B0604020202020204" pitchFamily="34" charset="0"/>
                <a:cs typeface="Arial" panose="020B0604020202020204" pitchFamily="34" charset="0"/>
              </a:rPr>
              <a:t>2. Scan using </a:t>
            </a:r>
            <a:r>
              <a:rPr lang="en-IN" sz="1200" b="1" i="0" dirty="0" err="1">
                <a:solidFill>
                  <a:schemeClr val="bg1"/>
                </a:solidFill>
                <a:effectLst/>
                <a:latin typeface="Arial" panose="020B0604020202020204" pitchFamily="34" charset="0"/>
                <a:cs typeface="Arial" panose="020B0604020202020204" pitchFamily="34" charset="0"/>
              </a:rPr>
              <a:t>Gobuster</a:t>
            </a:r>
            <a:endParaRPr lang="en-IN" sz="1200" b="1" i="0" dirty="0">
              <a:solidFill>
                <a:schemeClr val="bg1"/>
              </a:solidFill>
              <a:effectLst/>
              <a:latin typeface="Arial" panose="020B0604020202020204" pitchFamily="34" charset="0"/>
              <a:cs typeface="Arial" panose="020B0604020202020204" pitchFamily="34" charset="0"/>
            </a:endParaRPr>
          </a:p>
          <a:p>
            <a:pPr marL="0" marR="0" indent="0" algn="l">
              <a:spcBef>
                <a:spcPts val="600"/>
              </a:spcBef>
              <a:buNone/>
            </a:pPr>
            <a:r>
              <a:rPr lang="en-IN" sz="1200" b="0" i="0" dirty="0">
                <a:solidFill>
                  <a:schemeClr val="bg1"/>
                </a:solidFill>
                <a:effectLst/>
                <a:latin typeface="Arial" panose="020B0604020202020204" pitchFamily="34" charset="0"/>
                <a:cs typeface="Arial" panose="020B0604020202020204" pitchFamily="34" charset="0"/>
              </a:rPr>
              <a:t>Run the following command:</a:t>
            </a:r>
          </a:p>
          <a:p>
            <a:pPr indent="0" algn="l">
              <a:buNone/>
            </a:pPr>
            <a:r>
              <a:rPr lang="en-IN" sz="1200" b="0" i="0" dirty="0">
                <a:solidFill>
                  <a:schemeClr val="bg1"/>
                </a:solidFill>
                <a:effectLst/>
                <a:latin typeface="Arial" panose="020B0604020202020204" pitchFamily="34" charset="0"/>
                <a:cs typeface="Arial" panose="020B0604020202020204" pitchFamily="34" charset="0"/>
              </a:rPr>
              <a:t>bash</a:t>
            </a:r>
          </a:p>
          <a:p>
            <a:pPr indent="0" algn="l">
              <a:buNone/>
            </a:pPr>
            <a:r>
              <a:rPr lang="en-IN" sz="1200" b="0" i="0" dirty="0" err="1">
                <a:solidFill>
                  <a:schemeClr val="bg1"/>
                </a:solidFill>
                <a:effectLst/>
                <a:latin typeface="Arial" panose="020B0604020202020204" pitchFamily="34" charset="0"/>
                <a:cs typeface="Arial" panose="020B0604020202020204" pitchFamily="34" charset="0"/>
              </a:rPr>
              <a:t>gobuster</a:t>
            </a:r>
            <a:r>
              <a:rPr lang="en-IN" sz="1200" b="0" i="0" dirty="0">
                <a:solidFill>
                  <a:schemeClr val="bg1"/>
                </a:solidFill>
                <a:effectLst/>
                <a:latin typeface="Arial" panose="020B0604020202020204" pitchFamily="34" charset="0"/>
                <a:cs typeface="Arial" panose="020B0604020202020204" pitchFamily="34" charset="0"/>
              </a:rPr>
              <a:t> </a:t>
            </a:r>
            <a:r>
              <a:rPr lang="en-IN" sz="1200" b="0" i="0" dirty="0" err="1">
                <a:solidFill>
                  <a:schemeClr val="bg1"/>
                </a:solidFill>
                <a:effectLst/>
                <a:latin typeface="Arial" panose="020B0604020202020204" pitchFamily="34" charset="0"/>
                <a:cs typeface="Arial" panose="020B0604020202020204" pitchFamily="34" charset="0"/>
              </a:rPr>
              <a:t>dir</a:t>
            </a:r>
            <a:r>
              <a:rPr lang="en-IN" sz="1200" b="0" i="0" dirty="0">
                <a:solidFill>
                  <a:schemeClr val="bg1"/>
                </a:solidFill>
                <a:effectLst/>
                <a:latin typeface="Arial" panose="020B0604020202020204" pitchFamily="34" charset="0"/>
                <a:cs typeface="Arial" panose="020B0604020202020204" pitchFamily="34" charset="0"/>
              </a:rPr>
              <a:t> -u http://127.0.0.1:42001/ -w /</a:t>
            </a:r>
            <a:r>
              <a:rPr lang="en-IN" sz="1200" b="0" i="0" dirty="0" err="1">
                <a:solidFill>
                  <a:schemeClr val="bg1"/>
                </a:solidFill>
                <a:effectLst/>
                <a:latin typeface="Arial" panose="020B0604020202020204" pitchFamily="34" charset="0"/>
                <a:cs typeface="Arial" panose="020B0604020202020204" pitchFamily="34" charset="0"/>
              </a:rPr>
              <a:t>usr</a:t>
            </a:r>
            <a:r>
              <a:rPr lang="en-IN" sz="1200" b="0" i="0" dirty="0">
                <a:solidFill>
                  <a:schemeClr val="bg1"/>
                </a:solidFill>
                <a:effectLst/>
                <a:latin typeface="Arial" panose="020B0604020202020204" pitchFamily="34" charset="0"/>
                <a:cs typeface="Arial" panose="020B0604020202020204" pitchFamily="34" charset="0"/>
              </a:rPr>
              <a:t>/share/</a:t>
            </a:r>
            <a:r>
              <a:rPr lang="en-IN" sz="1200" b="0" i="0" dirty="0" err="1">
                <a:solidFill>
                  <a:schemeClr val="bg1"/>
                </a:solidFill>
                <a:effectLst/>
                <a:latin typeface="Arial" panose="020B0604020202020204" pitchFamily="34" charset="0"/>
                <a:cs typeface="Arial" panose="020B0604020202020204" pitchFamily="34" charset="0"/>
              </a:rPr>
              <a:t>dirb</a:t>
            </a:r>
            <a:r>
              <a:rPr lang="en-IN" sz="1200" b="0" i="0" dirty="0">
                <a:solidFill>
                  <a:schemeClr val="bg1"/>
                </a:solidFill>
                <a:effectLst/>
                <a:latin typeface="Arial" panose="020B0604020202020204" pitchFamily="34" charset="0"/>
                <a:cs typeface="Arial" panose="020B0604020202020204" pitchFamily="34" charset="0"/>
              </a:rPr>
              <a:t>/wordlists/common.txt</a:t>
            </a:r>
          </a:p>
          <a:p>
            <a:pPr marL="0" marR="0" lvl="0" indent="-342900" algn="l">
              <a:spcBef>
                <a:spcPts val="1200"/>
              </a:spcBef>
              <a:buFont typeface="Arial" panose="020B0604020202020204" pitchFamily="34" charset="0"/>
              <a:buChar char="•"/>
            </a:pPr>
            <a:r>
              <a:rPr lang="en-IN" sz="1200" b="0" i="0" dirty="0" err="1">
                <a:solidFill>
                  <a:schemeClr val="bg1"/>
                </a:solidFill>
                <a:effectLst/>
                <a:latin typeface="Arial" panose="020B0604020202020204" pitchFamily="34" charset="0"/>
                <a:cs typeface="Arial" panose="020B0604020202020204" pitchFamily="34" charset="0"/>
              </a:rPr>
              <a:t>gobuster</a:t>
            </a:r>
            <a:r>
              <a:rPr lang="en-IN" sz="1200" b="0" i="0" dirty="0">
                <a:solidFill>
                  <a:schemeClr val="bg1"/>
                </a:solidFill>
                <a:effectLst/>
                <a:latin typeface="Arial" panose="020B0604020202020204" pitchFamily="34" charset="0"/>
                <a:cs typeface="Arial" panose="020B0604020202020204" pitchFamily="34" charset="0"/>
              </a:rPr>
              <a:t> </a:t>
            </a:r>
            <a:r>
              <a:rPr lang="en-IN" sz="1200" b="0" i="0" dirty="0" err="1">
                <a:solidFill>
                  <a:schemeClr val="bg1"/>
                </a:solidFill>
                <a:effectLst/>
                <a:latin typeface="Arial" panose="020B0604020202020204" pitchFamily="34" charset="0"/>
                <a:cs typeface="Arial" panose="020B0604020202020204" pitchFamily="34" charset="0"/>
              </a:rPr>
              <a:t>dir</a:t>
            </a:r>
            <a:r>
              <a:rPr lang="en-IN" sz="1200" b="0" i="0" dirty="0">
                <a:solidFill>
                  <a:schemeClr val="bg1"/>
                </a:solidFill>
                <a:effectLst/>
                <a:latin typeface="Arial" panose="020B0604020202020204" pitchFamily="34" charset="0"/>
                <a:cs typeface="Arial" panose="020B0604020202020204" pitchFamily="34" charset="0"/>
              </a:rPr>
              <a:t> starts directory enumeration.</a:t>
            </a:r>
          </a:p>
          <a:p>
            <a:pPr marL="0" marR="0" lvl="0" indent="-342900" algn="l">
              <a:spcBef>
                <a:spcPts val="1200"/>
              </a:spcBef>
              <a:buFont typeface="Arial" panose="020B0604020202020204" pitchFamily="34" charset="0"/>
              <a:buChar char="•"/>
            </a:pPr>
            <a:r>
              <a:rPr lang="en-IN" sz="1200" b="0" i="0" dirty="0">
                <a:solidFill>
                  <a:schemeClr val="bg1"/>
                </a:solidFill>
                <a:effectLst/>
                <a:latin typeface="Arial" panose="020B0604020202020204" pitchFamily="34" charset="0"/>
                <a:cs typeface="Arial" panose="020B0604020202020204" pitchFamily="34" charset="0"/>
              </a:rPr>
              <a:t>-u specifies the target URL.</a:t>
            </a:r>
          </a:p>
          <a:p>
            <a:pPr marL="0" marR="0" lvl="0" indent="-342900" algn="l">
              <a:spcBef>
                <a:spcPts val="1200"/>
              </a:spcBef>
              <a:buFont typeface="Arial" panose="020B0604020202020204" pitchFamily="34" charset="0"/>
              <a:buChar char="•"/>
            </a:pPr>
            <a:r>
              <a:rPr lang="en-IN" sz="1200" b="0" i="0" dirty="0">
                <a:solidFill>
                  <a:schemeClr val="bg1"/>
                </a:solidFill>
                <a:effectLst/>
                <a:latin typeface="Arial" panose="020B0604020202020204" pitchFamily="34" charset="0"/>
                <a:cs typeface="Arial" panose="020B0604020202020204" pitchFamily="34" charset="0"/>
              </a:rPr>
              <a:t>-w specifies the wordlist.</a:t>
            </a:r>
          </a:p>
          <a:p>
            <a:pPr marL="0" marR="0" lvl="0" indent="-342900" algn="l">
              <a:spcBef>
                <a:spcPts val="1200"/>
              </a:spcBef>
              <a:buFont typeface="Arial" panose="020B0604020202020204" pitchFamily="34" charset="0"/>
              <a:buChar char="•"/>
            </a:pPr>
            <a:r>
              <a:rPr lang="en-IN" sz="1200" b="0" i="0" dirty="0" err="1">
                <a:solidFill>
                  <a:schemeClr val="bg1"/>
                </a:solidFill>
                <a:effectLst/>
                <a:latin typeface="Arial" panose="020B0604020202020204" pitchFamily="34" charset="0"/>
                <a:cs typeface="Arial" panose="020B0604020202020204" pitchFamily="34" charset="0"/>
              </a:rPr>
              <a:t>Gobuster</a:t>
            </a:r>
            <a:r>
              <a:rPr lang="en-IN" sz="1200" b="0" i="0" dirty="0">
                <a:solidFill>
                  <a:schemeClr val="bg1"/>
                </a:solidFill>
                <a:effectLst/>
                <a:latin typeface="Arial" panose="020B0604020202020204" pitchFamily="34" charset="0"/>
                <a:cs typeface="Arial" panose="020B0604020202020204" pitchFamily="34" charset="0"/>
              </a:rPr>
              <a:t> checks the paths listed in the wordlist.</a:t>
            </a:r>
          </a:p>
        </p:txBody>
      </p:sp>
    </p:spTree>
    <p:extLst>
      <p:ext uri="{BB962C8B-B14F-4D97-AF65-F5344CB8AC3E}">
        <p14:creationId xmlns:p14="http://schemas.microsoft.com/office/powerpoint/2010/main" val="3165530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7B21B78-8F76-B7BB-CBB6-FD3D837E4AD5}"/>
            </a:ext>
          </a:extLst>
        </p:cNvPr>
        <p:cNvGrpSpPr/>
        <p:nvPr/>
      </p:nvGrpSpPr>
      <p:grpSpPr>
        <a:xfrm>
          <a:off x="0" y="0"/>
          <a:ext cx="0" cy="0"/>
          <a:chOff x="0" y="0"/>
          <a:chExt cx="0" cy="0"/>
        </a:xfrm>
      </p:grpSpPr>
    </p:spTree>
    <p:extLst>
      <p:ext uri="{BB962C8B-B14F-4D97-AF65-F5344CB8AC3E}">
        <p14:creationId xmlns:p14="http://schemas.microsoft.com/office/powerpoint/2010/main" val="32459234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336</TotalTime>
  <Words>659</Words>
  <Application>Microsoft Office PowerPoint</Application>
  <PresentationFormat>Widescreen</PresentationFormat>
  <Paragraphs>86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kumbhar dilip</dc:creator>
  <cp:lastModifiedBy>kumbhar dilip</cp:lastModifiedBy>
  <cp:revision>2</cp:revision>
  <dcterms:created xsi:type="dcterms:W3CDTF">2026-10-19T08:44:40Z</dcterms:created>
  <dcterms:modified xsi:type="dcterms:W3CDTF">2026-10-19T14:30:09Z</dcterms:modified>
</cp:coreProperties>
</file>